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开场：这是一份专家评审材料。影片 120 秒，PPT 作为同一叙事的可翻阅版本。两者使用同一组事实、同一组边界，不把产品演示当成评审结论。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定位：它读取安装包里的静态线索，和政策原文逐条对照。权限是能力，invoke 是线索，两者都不等于实际采集。右侧是 2026-10-23 采集的移动 App 开发版截图（提交 f81ca20），固定合成材料；截图来自生产 Vue + 受控 native bridge，不是真机，也不是 APK 扫描。桌面工作台按 ADR-0005 冻结，不是客户端。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创新点不在静态分析本身，而在证据链的形状：一条证据同时挂代码位置和政策原句，两个端点都能复核。一致性分析不是本项目首创；我们把证据链做成可理解、可复核。事实、声明、推断分开记录，材料不足就保留 UNKNOWN。受控场景的真值先冻结，再让算法跑。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实现是一条流水线：材料进来，隔离容器里解析，生成证据和候选，一致性引擎对照，最后出报告和回放。左边四个块是可核的约束和组件；右侧是 2026-10-23 采集的移动报告（提交 f81ca20），输入是构造材料，页面是持久化回放，两条结论都待复核。界面仍是开发版，最终视觉可能变化。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结果分四类：工程门禁 1578 passed、179 skipped，e2e 65，Web 111；部署 40/0/0，四入口 4/4；受控 12 个场景，三方案状态一致 12/4/2，36 行，失败 0，P/R/F1 按协议 N/A。三类数字不能混着说。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 矩阵 11 通过、1 失败；H12 是 J × splits × 手机模型，失败复现两次，片内和 PPT 都保留。真实 App 只有一个历史样本 GKD，6 证据、3 行为、2 声明、3 问题，三条结论都是证据不足。不要把工程测试、受控评测、真实 App 准确率混成一个数字。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贡献分两层写：团队提出并执行定位、证据模型、规则、受控基准和验收治理；AI 集中在脚手架、测试、文档和文案。不给代码比例，也不宣称 100% 独立。每个数字都绑提交，不写成当前版本。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这一页专门放边界：做了什么、没做完什么、绝不宣称什么。H12 失败、前端开发版、真实 App 全局准确率未做，都写在这里。评审材料可以展示缺口，不能把缺口藏起来。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结语只有一句：先把证据摆出来，再谈结论。三条边界分别是线索、受控结果和未知。复核入口在仓库里，材料哈希在 manifest。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附录把视频、PPT、界面采集、源文件、哈希、提交绑定和复核命令放在一起。界面图采集于 2026-10-23，提交 f81ca20，来源清单在 capture/manifest.json。提交状态以报名系统为准，本页只固定材料版本与哈希。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04769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5390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308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6928" y="822960"/>
            <a:ext cx="11045952" cy="0"/>
          </a:xfrm>
          <a:prstGeom prst="line">
            <a:avLst/>
          </a:prstGeom>
          <a:ln w="6350">
            <a:solidFill>
              <a:srgbClr val="1A2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66928" y="310896"/>
            <a:ext cx="292608" cy="292608"/>
          </a:xfrm>
          <a:prstGeom prst="rect">
            <a:avLst/>
          </a:prstGeom>
          <a:solidFill>
            <a:srgbClr val="07090C"/>
          </a:solidFill>
          <a:ln w="7620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65760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4F0E4"/>
                </a:solidFill>
                <a:latin typeface="Cascadia Mono"/>
                <a:ea typeface="Cascadia Mono"/>
              </a:rPr>
              <a:t>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20040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0E4"/>
                </a:solidFill>
                <a:latin typeface="Noto Sans SC"/>
                <a:ea typeface="Noto Sans SC"/>
              </a:rPr>
              <a:t>PrivacyTrace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521207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40">
                <a:solidFill>
                  <a:srgbClr val="98A2B3"/>
                </a:solidFill>
                <a:latin typeface="Cascadia Mono"/>
                <a:ea typeface="Cascadia Mono"/>
              </a:rPr>
              <a:t>作品评审 / EXPERT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365760"/>
            <a:ext cx="246888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E9B872"/>
                </a:solidFill>
                <a:latin typeface="Cascadia Mono"/>
                <a:ea typeface="Cascadia Mono"/>
              </a:rPr>
              <a:t>2026 · 专家评审版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1874519"/>
            <a:ext cx="713232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spc="20">
                <a:solidFill>
                  <a:srgbClr val="F4F0E4"/>
                </a:solidFill>
                <a:latin typeface="Noto Serif SC"/>
                <a:ea typeface="Noto Serif SC"/>
              </a:rPr>
              <a:t>PrivacyTrace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971800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FC8B8"/>
                </a:solidFill>
                <a:latin typeface="Noto Sans SC"/>
                <a:ea typeface="Noto Sans SC"/>
              </a:rPr>
              <a:t>Android APK 静态隐私线索 × 政策原文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520440"/>
            <a:ext cx="676656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80">
                <a:solidFill>
                  <a:srgbClr val="E9B872"/>
                </a:solidFill>
                <a:latin typeface="Cascadia Mono"/>
                <a:ea typeface="Cascadia Mono"/>
              </a:rPr>
              <a:t>作品评审 · 专家版 · 120 秒影片 + 评审 PPT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9808" y="3977639"/>
            <a:ext cx="3913632" cy="0"/>
          </a:xfrm>
          <a:prstGeom prst="line">
            <a:avLst/>
          </a:prstGeom>
          <a:ln w="9525">
            <a:solidFill>
              <a:srgbClr val="8B6A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818120" y="1417320"/>
            <a:ext cx="1417320" cy="41148"/>
          </a:xfrm>
          <a:prstGeom prst="rect">
            <a:avLst/>
          </a:prstGeom>
          <a:solidFill>
            <a:srgbClr val="55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58400" y="1417320"/>
            <a:ext cx="1325880" cy="41148"/>
          </a:xfrm>
          <a:prstGeom prst="rect">
            <a:avLst/>
          </a:prstGeom>
          <a:solidFill>
            <a:srgbClr val="4A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18120" y="1719072"/>
            <a:ext cx="1216152" cy="41148"/>
          </a:xfrm>
          <a:prstGeom prst="rect">
            <a:avLst/>
          </a:prstGeom>
          <a:solidFill>
            <a:srgbClr val="55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0" y="1719072"/>
            <a:ext cx="1161288" cy="41148"/>
          </a:xfrm>
          <a:prstGeom prst="rect">
            <a:avLst/>
          </a:prstGeom>
          <a:solidFill>
            <a:srgbClr val="4A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18120" y="2020824"/>
            <a:ext cx="1014984" cy="41148"/>
          </a:xfrm>
          <a:prstGeom prst="rect">
            <a:avLst/>
          </a:prstGeom>
          <a:solidFill>
            <a:srgbClr val="55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0" y="2020824"/>
            <a:ext cx="996695" cy="41148"/>
          </a:xfrm>
          <a:prstGeom prst="rect">
            <a:avLst/>
          </a:prstGeom>
          <a:solidFill>
            <a:srgbClr val="4A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18120" y="2322576"/>
            <a:ext cx="1417320" cy="41148"/>
          </a:xfrm>
          <a:prstGeom prst="rect">
            <a:avLst/>
          </a:prstGeom>
          <a:solidFill>
            <a:srgbClr val="55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58400" y="2322576"/>
            <a:ext cx="832103" cy="41148"/>
          </a:xfrm>
          <a:prstGeom prst="rect">
            <a:avLst/>
          </a:prstGeom>
          <a:solidFill>
            <a:srgbClr val="4A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18120" y="2624328"/>
            <a:ext cx="1216152" cy="41148"/>
          </a:xfrm>
          <a:prstGeom prst="rect">
            <a:avLst/>
          </a:prstGeom>
          <a:solidFill>
            <a:srgbClr val="55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58400" y="2624328"/>
            <a:ext cx="1325880" cy="41148"/>
          </a:xfrm>
          <a:prstGeom prst="rect">
            <a:avLst/>
          </a:prstGeom>
          <a:solidFill>
            <a:srgbClr val="4A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18120" y="2926080"/>
            <a:ext cx="1014984" cy="41148"/>
          </a:xfrm>
          <a:prstGeom prst="rect">
            <a:avLst/>
          </a:prstGeom>
          <a:solidFill>
            <a:srgbClr val="55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58400" y="2926080"/>
            <a:ext cx="1161288" cy="41148"/>
          </a:xfrm>
          <a:prstGeom prst="rect">
            <a:avLst/>
          </a:prstGeom>
          <a:solidFill>
            <a:srgbClr val="4A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18120" y="3227832"/>
            <a:ext cx="1417320" cy="41148"/>
          </a:xfrm>
          <a:prstGeom prst="rect">
            <a:avLst/>
          </a:prstGeom>
          <a:solidFill>
            <a:srgbClr val="55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58400" y="3227832"/>
            <a:ext cx="996695" cy="41148"/>
          </a:xfrm>
          <a:prstGeom prst="rect">
            <a:avLst/>
          </a:prstGeom>
          <a:solidFill>
            <a:srgbClr val="4A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818120" y="3529584"/>
            <a:ext cx="1216152" cy="41148"/>
          </a:xfrm>
          <a:prstGeom prst="rect">
            <a:avLst/>
          </a:prstGeom>
          <a:solidFill>
            <a:srgbClr val="55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058400" y="3529584"/>
            <a:ext cx="832103" cy="41148"/>
          </a:xfrm>
          <a:prstGeom prst="rect">
            <a:avLst/>
          </a:prstGeom>
          <a:solidFill>
            <a:srgbClr val="4A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818120" y="3831336"/>
            <a:ext cx="1014984" cy="41148"/>
          </a:xfrm>
          <a:prstGeom prst="rect">
            <a:avLst/>
          </a:prstGeom>
          <a:solidFill>
            <a:srgbClr val="55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58400" y="3831336"/>
            <a:ext cx="1325880" cy="41148"/>
          </a:xfrm>
          <a:prstGeom prst="rect">
            <a:avLst/>
          </a:prstGeom>
          <a:solidFill>
            <a:srgbClr val="4A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818120" y="4133088"/>
            <a:ext cx="1417320" cy="41148"/>
          </a:xfrm>
          <a:prstGeom prst="rect">
            <a:avLst/>
          </a:prstGeom>
          <a:solidFill>
            <a:srgbClr val="55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58400" y="4133088"/>
            <a:ext cx="1161288" cy="41148"/>
          </a:xfrm>
          <a:prstGeom prst="rect">
            <a:avLst/>
          </a:prstGeom>
          <a:solidFill>
            <a:srgbClr val="4A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818120" y="4434840"/>
            <a:ext cx="1216152" cy="41148"/>
          </a:xfrm>
          <a:prstGeom prst="rect">
            <a:avLst/>
          </a:prstGeom>
          <a:solidFill>
            <a:srgbClr val="55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8400" y="4434840"/>
            <a:ext cx="996695" cy="41148"/>
          </a:xfrm>
          <a:prstGeom prst="rect">
            <a:avLst/>
          </a:prstGeom>
          <a:solidFill>
            <a:srgbClr val="4A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818120" y="4736592"/>
            <a:ext cx="1014984" cy="41148"/>
          </a:xfrm>
          <a:prstGeom prst="rect">
            <a:avLst/>
          </a:prstGeom>
          <a:solidFill>
            <a:srgbClr val="55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58400" y="4736592"/>
            <a:ext cx="832103" cy="41148"/>
          </a:xfrm>
          <a:prstGeom prst="rect">
            <a:avLst/>
          </a:prstGeom>
          <a:solidFill>
            <a:srgbClr val="4A5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18120" y="1152144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00">
                <a:solidFill>
                  <a:srgbClr val="7D8899"/>
                </a:solidFill>
                <a:latin typeface="Cascadia Mono"/>
                <a:ea typeface="Cascadia Mono"/>
              </a:rPr>
              <a:t>CODE / STATIC EVIDENCE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1152144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00">
                <a:solidFill>
                  <a:srgbClr val="7D8899"/>
                </a:solidFill>
                <a:latin typeface="Cascadia Mono"/>
                <a:ea typeface="Cascadia Mono"/>
              </a:rPr>
              <a:t>POLICY / TEXT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308592" y="3246120"/>
            <a:ext cx="704088" cy="0"/>
          </a:xfrm>
          <a:prstGeom prst="line">
            <a:avLst/>
          </a:prstGeom>
          <a:ln w="9525">
            <a:solidFill>
              <a:srgbClr val="E9B8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Diamond 42"/>
          <p:cNvSpPr/>
          <p:nvPr/>
        </p:nvSpPr>
        <p:spPr>
          <a:xfrm>
            <a:off x="9601200" y="3191256"/>
            <a:ext cx="109728" cy="109728"/>
          </a:xfrm>
          <a:prstGeom prst="diamond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400032" y="3456432"/>
            <a:ext cx="530352" cy="201168"/>
          </a:xfrm>
          <a:prstGeom prst="rect">
            <a:avLst/>
          </a:prstGeom>
          <a:solidFill>
            <a:srgbClr val="07090C"/>
          </a:solidFill>
          <a:ln w="7620">
            <a:solidFill>
              <a:srgbClr val="8B6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00032" y="3502152"/>
            <a:ext cx="530352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spc="80">
                <a:solidFill>
                  <a:srgbClr val="E9B872"/>
                </a:solidFill>
                <a:latin typeface="Cascadia Mono"/>
                <a:ea typeface="Cascadia Mono"/>
              </a:rPr>
              <a:t>EVIDENCE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5742432"/>
            <a:ext cx="71323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D8899"/>
                </a:solidFill>
                <a:latin typeface="Noto Sans SC"/>
                <a:ea typeface="Noto Sans SC"/>
              </a:rPr>
              <a:t>视频与 PPT 均按「定位 / 创新 / 关键实现 / 真实成果 / 学生原创贡献」组织。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8" y="6473952"/>
            <a:ext cx="457200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20">
                <a:solidFill>
                  <a:srgbClr val="555E6C"/>
                </a:solidFill>
                <a:latin typeface="Cascadia Mono"/>
                <a:ea typeface="Cascadia Mono"/>
              </a:rPr>
              <a:t>2026-10-23 · REVIEW CUT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04769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5390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308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6928" y="822960"/>
            <a:ext cx="11045952" cy="0"/>
          </a:xfrm>
          <a:prstGeom prst="line">
            <a:avLst/>
          </a:prstGeom>
          <a:ln w="6350">
            <a:solidFill>
              <a:srgbClr val="1A2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66928" y="310896"/>
            <a:ext cx="292608" cy="292608"/>
          </a:xfrm>
          <a:prstGeom prst="rect">
            <a:avLst/>
          </a:prstGeom>
          <a:solidFill>
            <a:srgbClr val="07090C"/>
          </a:solidFill>
          <a:ln w="7620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65760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4F0E4"/>
                </a:solidFill>
                <a:latin typeface="Cascadia Mono"/>
                <a:ea typeface="Cascadia Mono"/>
              </a:rPr>
              <a:t>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20040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0E4"/>
                </a:solidFill>
                <a:latin typeface="Noto Sans SC"/>
                <a:ea typeface="Noto Sans SC"/>
              </a:rPr>
              <a:t>PrivacyTrace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521207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40">
                <a:solidFill>
                  <a:srgbClr val="98A2B3"/>
                </a:solidFill>
                <a:latin typeface="Cascadia Mono"/>
                <a:ea typeface="Cascadia Mono"/>
              </a:rPr>
              <a:t>作品评审 / EXPERT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941832"/>
            <a:ext cx="493776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140">
                <a:solidFill>
                  <a:srgbClr val="E9B872"/>
                </a:solidFill>
                <a:latin typeface="Cascadia Mono"/>
                <a:ea typeface="Cascadia Mono"/>
              </a:rPr>
              <a:t>01 / 定位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12471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200">
                <a:solidFill>
                  <a:srgbClr val="6E7888"/>
                </a:solidFill>
                <a:latin typeface="Cascadia Mono"/>
                <a:ea typeface="Cascadia Mono"/>
              </a:rPr>
              <a:t>POSITIONING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555E6C"/>
                </a:solidFill>
                <a:latin typeface="Cascadia Mono"/>
                <a:ea typeface="Cascadia Mono"/>
              </a:rPr>
              <a:t>PRIVACYTRACE / REVIEW DECK /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6473952"/>
            <a:ext cx="6858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E6C"/>
                </a:solidFill>
                <a:latin typeface="Cascadia Mono"/>
                <a:ea typeface="Cascadia Mono"/>
              </a:rPr>
              <a:t>02 /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417320"/>
            <a:ext cx="566928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4F0E4"/>
                </a:solidFill>
                <a:latin typeface="Noto Serif SC"/>
                <a:ea typeface="Noto Serif SC"/>
              </a:rPr>
              <a:t>读取静态线索，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E9B872"/>
                </a:solidFill>
                <a:latin typeface="Noto Serif SC"/>
                <a:ea typeface="Noto Serif SC"/>
              </a:rPr>
              <a:t>对齐政策原文。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724912"/>
            <a:ext cx="562356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C9C3B4"/>
                </a:solidFill>
                <a:latin typeface="Noto Sans SC"/>
                <a:ea typeface="Noto Sans SC"/>
              </a:rPr>
              <a:t>上传 APK 或 base + splits，解析 manifest 与全部 classesN.dex。再放入政策正文：可定位的线索落到代码位置与政策原句，材料不足保留 UNKNOWN。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913632"/>
            <a:ext cx="5440680" cy="310896"/>
          </a:xfrm>
          <a:prstGeom prst="rect">
            <a:avLst/>
          </a:prstGeom>
          <a:solidFill>
            <a:srgbClr val="0E1218"/>
          </a:solidFill>
          <a:ln w="6350">
            <a:solidFill>
              <a:srgbClr val="252C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4041648"/>
            <a:ext cx="45720" cy="4572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986784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4F0E4"/>
                </a:solidFill>
                <a:latin typeface="Cascadia Mono"/>
                <a:ea typeface="Cascadia Mono"/>
              </a:rPr>
              <a:t>权限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3986784"/>
            <a:ext cx="374903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B8C0CE"/>
                </a:solidFill>
                <a:latin typeface="Cascadia Mono"/>
                <a:ea typeface="Cascadia Mono"/>
              </a:rPr>
              <a:t>= 能力声明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315968"/>
            <a:ext cx="5440680" cy="310896"/>
          </a:xfrm>
          <a:prstGeom prst="rect">
            <a:avLst/>
          </a:prstGeom>
          <a:solidFill>
            <a:srgbClr val="0E1218"/>
          </a:solidFill>
          <a:ln w="6350">
            <a:solidFill>
              <a:srgbClr val="252C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4443984"/>
            <a:ext cx="45720" cy="4572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389120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4F0E4"/>
                </a:solidFill>
                <a:latin typeface="Cascadia Mono"/>
                <a:ea typeface="Cascadia Mono"/>
              </a:rPr>
              <a:t>invoke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4389120"/>
            <a:ext cx="374903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B8C0CE"/>
                </a:solidFill>
                <a:latin typeface="Cascadia Mono"/>
                <a:ea typeface="Cascadia Mono"/>
              </a:rPr>
              <a:t>= 静态线索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718304"/>
            <a:ext cx="5440680" cy="310896"/>
          </a:xfrm>
          <a:prstGeom prst="rect">
            <a:avLst/>
          </a:prstGeom>
          <a:solidFill>
            <a:srgbClr val="0E1218"/>
          </a:solidFill>
          <a:ln w="6350">
            <a:solidFill>
              <a:srgbClr val="252C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4846320"/>
            <a:ext cx="45720" cy="4572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791456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4F0E4"/>
                </a:solidFill>
                <a:latin typeface="Cascadia Mono"/>
                <a:ea typeface="Cascadia Mono"/>
              </a:rPr>
              <a:t>未证实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65960" y="4791456"/>
            <a:ext cx="374903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B8C0CE"/>
                </a:solidFill>
                <a:latin typeface="Cascadia Mono"/>
                <a:ea typeface="Cascadia Mono"/>
              </a:rPr>
              <a:t>= UNKNOWN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5230368"/>
            <a:ext cx="5669280" cy="896112"/>
          </a:xfrm>
          <a:prstGeom prst="rect">
            <a:avLst/>
          </a:prstGeom>
          <a:solidFill>
            <a:srgbClr val="F4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5358384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40">
                <a:solidFill>
                  <a:srgbClr val="8B3A2D"/>
                </a:solidFill>
                <a:latin typeface="Cascadia Mono"/>
                <a:ea typeface="Cascadia Mono"/>
              </a:rPr>
              <a:t>它不判断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5577840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B22"/>
                </a:solidFill>
                <a:latin typeface="Noto Serif SC"/>
                <a:ea typeface="Noto Serif SC"/>
              </a:rPr>
              <a:t>合规性  /  安全性  /  实际采集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5907024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D5A52"/>
                </a:solidFill>
                <a:latin typeface="Noto Sans SC"/>
                <a:ea typeface="Noto Sans SC"/>
              </a:rPr>
              <a:t>线索 ≠ 行为。结论留给证据与人工复核。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371600"/>
            <a:ext cx="246888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20">
                <a:solidFill>
                  <a:srgbClr val="E9B872"/>
                </a:solidFill>
                <a:latin typeface="Cascadia Mono"/>
                <a:ea typeface="Cascadia Mono"/>
              </a:rPr>
              <a:t>移动 App · 开发版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1563624"/>
            <a:ext cx="256032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E7888"/>
                </a:solidFill>
                <a:latin typeface="Cascadia Mono"/>
                <a:ea typeface="Cascadia Mono"/>
              </a:rPr>
              <a:t>2026-10-23 采集 @ f81ca20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1920240"/>
            <a:ext cx="24688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4F0E4"/>
                </a:solidFill>
                <a:latin typeface="Noto Serif SC"/>
                <a:ea typeface="Noto Serif SC"/>
              </a:rPr>
              <a:t>只对照，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4F0E4"/>
                </a:solidFill>
                <a:latin typeface="Noto Serif SC"/>
                <a:ea typeface="Noto Serif SC"/>
              </a:rPr>
              <a:t>不判定。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446520" y="2834640"/>
            <a:ext cx="2441448" cy="0"/>
          </a:xfrm>
          <a:prstGeom prst="line">
            <a:avLst/>
          </a:prstGeom>
          <a:ln w="9525">
            <a:solidFill>
              <a:srgbClr val="8B6A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446520" y="2944368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9AA4B2"/>
                </a:solidFill>
                <a:latin typeface="Noto Sans SC"/>
                <a:ea typeface="Noto Sans SC"/>
              </a:rPr>
              <a:t>界面仍在开发，最终视觉可能变化。桌面工作台（冻结）不是客户端。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3602736"/>
            <a:ext cx="237744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spc="100">
                <a:solidFill>
                  <a:srgbClr val="E9B872"/>
                </a:solidFill>
                <a:latin typeface="Cascadia Mono"/>
                <a:ea typeface="Cascadia Mono"/>
              </a:rPr>
              <a:t>图上能对上的入口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6520" y="3904488"/>
            <a:ext cx="45720" cy="4572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0" y="3840480"/>
            <a:ext cx="224028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F4F0E4"/>
                </a:solidFill>
                <a:latin typeface="Noto Sans SC"/>
                <a:ea typeface="Noto Sans SC"/>
              </a:rPr>
              <a:t>选择应用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4041648"/>
            <a:ext cx="22402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9AA4B2"/>
                </a:solidFill>
                <a:latin typeface="Cascadia Mono"/>
                <a:ea typeface="Cascadia Mono"/>
              </a:rPr>
              <a:t>系统选择器 · 主动选择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46520" y="4453128"/>
            <a:ext cx="45720" cy="4572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0" y="4389120"/>
            <a:ext cx="224028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F4F0E4"/>
                </a:solidFill>
                <a:latin typeface="Noto Sans SC"/>
                <a:ea typeface="Noto Sans SC"/>
              </a:rPr>
              <a:t>政策来源 2 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4590288"/>
            <a:ext cx="22402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9AA4B2"/>
                </a:solidFill>
                <a:latin typeface="Cascadia Mono"/>
                <a:ea typeface="Cascadia Mono"/>
              </a:rPr>
              <a:t>手动补入 · 未复核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46520" y="5001768"/>
            <a:ext cx="45720" cy="4572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0" y="4937760"/>
            <a:ext cx="224028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F4F0E4"/>
                </a:solidFill>
                <a:latin typeface="Noto Sans SC"/>
                <a:ea typeface="Noto Sans SC"/>
              </a:rPr>
              <a:t>固定合成材料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5138928"/>
            <a:ext cx="22402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9AA4B2"/>
                </a:solidFill>
                <a:latin typeface="Cascadia Mono"/>
                <a:ea typeface="Cascadia Mono"/>
              </a:rPr>
              <a:t>构造示例 · 可删除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46520" y="596188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6E7888"/>
                </a:solidFill>
                <a:latin typeface="Noto Sans SC"/>
                <a:ea typeface="Noto Sans SC"/>
              </a:rPr>
              <a:t>取材：生产 Vue + 受控 native bridge；非真机、非 APK 扫描。</a:t>
            </a:r>
          </a:p>
        </p:txBody>
      </p:sp>
      <p:pic>
        <p:nvPicPr>
          <p:cNvPr id="49" name="Picture 48" descr="mobile-import-390x844-dpr3-fr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298448"/>
            <a:ext cx="2395728" cy="504855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04769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5390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308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6928" y="822960"/>
            <a:ext cx="11045952" cy="0"/>
          </a:xfrm>
          <a:prstGeom prst="line">
            <a:avLst/>
          </a:prstGeom>
          <a:ln w="6350">
            <a:solidFill>
              <a:srgbClr val="1A2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66928" y="310896"/>
            <a:ext cx="292608" cy="292608"/>
          </a:xfrm>
          <a:prstGeom prst="rect">
            <a:avLst/>
          </a:prstGeom>
          <a:solidFill>
            <a:srgbClr val="07090C"/>
          </a:solidFill>
          <a:ln w="7620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65760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4F0E4"/>
                </a:solidFill>
                <a:latin typeface="Cascadia Mono"/>
                <a:ea typeface="Cascadia Mono"/>
              </a:rPr>
              <a:t>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20040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0E4"/>
                </a:solidFill>
                <a:latin typeface="Noto Sans SC"/>
                <a:ea typeface="Noto Sans SC"/>
              </a:rPr>
              <a:t>PrivacyTrace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521207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40">
                <a:solidFill>
                  <a:srgbClr val="98A2B3"/>
                </a:solidFill>
                <a:latin typeface="Cascadia Mono"/>
                <a:ea typeface="Cascadia Mono"/>
              </a:rPr>
              <a:t>作品评审 / EXPERT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941832"/>
            <a:ext cx="493776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140">
                <a:solidFill>
                  <a:srgbClr val="E9B872"/>
                </a:solidFill>
                <a:latin typeface="Cascadia Mono"/>
                <a:ea typeface="Cascadia Mono"/>
              </a:rPr>
              <a:t>02 / 创新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12471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200">
                <a:solidFill>
                  <a:srgbClr val="6E7888"/>
                </a:solidFill>
                <a:latin typeface="Cascadia Mono"/>
                <a:ea typeface="Cascadia Mono"/>
              </a:rPr>
              <a:t>INNOVATION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555E6C"/>
                </a:solidFill>
                <a:latin typeface="Cascadia Mono"/>
                <a:ea typeface="Cascadia Mono"/>
              </a:rPr>
              <a:t>PRIVACYTRACE / REVIEW DECK /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6473952"/>
            <a:ext cx="6858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E6C"/>
                </a:solidFill>
                <a:latin typeface="Cascadia Mono"/>
                <a:ea typeface="Cascadia Mono"/>
              </a:rPr>
              <a:t>03 /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417320"/>
            <a:ext cx="58521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4F0E4"/>
                </a:solidFill>
                <a:latin typeface="Noto Serif SC"/>
                <a:ea typeface="Noto Serif SC"/>
              </a:rPr>
              <a:t>结论要能回到</a:t>
            </a:r>
            <a:r>
              <a:rPr sz="2800" b="1">
                <a:solidFill>
                  <a:srgbClr val="E9B872"/>
                </a:solidFill>
                <a:latin typeface="Noto Serif SC"/>
                <a:ea typeface="Noto Serif SC"/>
              </a:rPr>
              <a:t>代码与原文。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48840"/>
            <a:ext cx="5074920" cy="2331720"/>
          </a:xfrm>
          <a:prstGeom prst="rect">
            <a:avLst/>
          </a:prstGeom>
          <a:solidFill>
            <a:srgbClr val="F4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230428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20">
                <a:solidFill>
                  <a:srgbClr val="8B3A2D"/>
                </a:solidFill>
                <a:latin typeface="Cascadia Mono"/>
                <a:ea typeface="Cascadia Mono"/>
              </a:rPr>
              <a:t>① 代码位置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542032"/>
            <a:ext cx="44805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C414A"/>
                </a:solidFill>
                <a:latin typeface="Cascadia Mono"/>
                <a:ea typeface="Cascadia Mono"/>
              </a:rPr>
              <a:t>synthetic/LocationFeature.java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2724912"/>
            <a:ext cx="44805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787268"/>
                </a:solidFill>
                <a:latin typeface="Cascadia Mono"/>
                <a:ea typeface="Cascadia Mono"/>
              </a:rPr>
              <a:t>LocationFeature#readGpsLocation:12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6384" y="2971800"/>
            <a:ext cx="4526280" cy="786384"/>
          </a:xfrm>
          <a:prstGeom prst="rect">
            <a:avLst/>
          </a:prstGeom>
          <a:solidFill>
            <a:srgbClr val="17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90672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DD6E6"/>
                </a:solidFill>
                <a:latin typeface="Cascadia Mono"/>
                <a:ea typeface="Cascadia Mono"/>
              </a:rPr>
              <a:t>locationManager.getLastKnownLocation(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DD6E6"/>
                </a:solidFill>
                <a:latin typeface="Cascadia Mono"/>
                <a:ea typeface="Cascadia Mono"/>
              </a:rPr>
              <a:t>    LocationManager.GPS_PROVIDER);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858768"/>
            <a:ext cx="44805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C766B"/>
                </a:solidFill>
                <a:latin typeface="Cascadia Mono"/>
                <a:ea typeface="Cascadia Mono"/>
              </a:rPr>
              <a:t>rule · android.location.last-known.gps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2148840"/>
            <a:ext cx="5074920" cy="2331720"/>
          </a:xfrm>
          <a:prstGeom prst="rect">
            <a:avLst/>
          </a:prstGeom>
          <a:solidFill>
            <a:srgbClr val="F4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57416" y="230428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20">
                <a:solidFill>
                  <a:srgbClr val="8B3A2D"/>
                </a:solidFill>
                <a:latin typeface="Cascadia Mono"/>
                <a:ea typeface="Cascadia Mono"/>
              </a:rPr>
              <a:t>② 政策原句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57416" y="2542032"/>
            <a:ext cx="44805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C414A"/>
                </a:solidFill>
                <a:latin typeface="Cascadia Mono"/>
                <a:ea typeface="Cascadia Mono"/>
              </a:rPr>
              <a:t>示例 App 内隐私政策 · 全文快照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57416" y="2724912"/>
            <a:ext cx="44805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787268"/>
                </a:solidFill>
                <a:latin typeface="Cascadia Mono"/>
                <a:ea typeface="Cascadia Mono"/>
              </a:rPr>
              <a:t>原文位置 [0, 18)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57416" y="3054096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1B22"/>
                </a:solidFill>
                <a:latin typeface="Noto Serif SC"/>
                <a:ea typeface="Noto Serif SC"/>
              </a:rPr>
              <a:t>我们访问位置信息，用于提供地图功能。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57416" y="3858768"/>
            <a:ext cx="44805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7C766B"/>
                </a:solidFill>
                <a:latin typeface="Cascadia Mono"/>
                <a:ea typeface="Cascadia Mono"/>
              </a:rPr>
              <a:t>按 Unicode 码点计数 · 半开区间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650992" y="3310128"/>
            <a:ext cx="877824" cy="0"/>
          </a:xfrm>
          <a:prstGeom prst="line">
            <a:avLst/>
          </a:prstGeom>
          <a:ln w="11430">
            <a:solidFill>
              <a:srgbClr val="8B6A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Diamond 29"/>
          <p:cNvSpPr/>
          <p:nvPr/>
        </p:nvSpPr>
        <p:spPr>
          <a:xfrm>
            <a:off x="6039612" y="3259836"/>
            <a:ext cx="100584" cy="100584"/>
          </a:xfrm>
          <a:prstGeom prst="diamond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70448" y="3090672"/>
            <a:ext cx="4572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8B3A2D"/>
                </a:solidFill>
                <a:latin typeface="Cascadia Mono"/>
                <a:ea typeface="Cascadia Mono"/>
              </a:rPr>
              <a:t>对照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663440"/>
            <a:ext cx="76809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F0E4"/>
                </a:solidFill>
                <a:latin typeface="Noto Serif SC"/>
                <a:ea typeface="Noto Serif SC"/>
              </a:rPr>
              <a:t>一条证据，两个终点；两边都能自己走一遍。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4718304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B3A2D"/>
                </a:solidFill>
                <a:latin typeface="Cascadia Mono"/>
                <a:ea typeface="Cascadia Mono"/>
              </a:rPr>
              <a:t>人工构造示例 · 可复算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5230368"/>
            <a:ext cx="3611880" cy="932688"/>
          </a:xfrm>
          <a:prstGeom prst="rect">
            <a:avLst/>
          </a:prstGeom>
          <a:solidFill>
            <a:srgbClr val="10151D"/>
          </a:solidFill>
          <a:ln w="762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321808"/>
            <a:ext cx="329184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20">
                <a:solidFill>
                  <a:srgbClr val="E9B872"/>
                </a:solidFill>
                <a:latin typeface="Cascadia Mono"/>
                <a:ea typeface="Cascadia Mono"/>
              </a:rPr>
              <a:t>01 / 两个终点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532120"/>
            <a:ext cx="3291840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9C3B4"/>
                </a:solidFill>
                <a:latin typeface="Noto Sans SC"/>
                <a:ea typeface="Noto Sans SC"/>
              </a:rPr>
              <a:t>代码位置与政策原句，都能自己走一遍。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9976" y="5230368"/>
            <a:ext cx="3611880" cy="932688"/>
          </a:xfrm>
          <a:prstGeom prst="rect">
            <a:avLst/>
          </a:prstGeom>
          <a:solidFill>
            <a:srgbClr val="10151D"/>
          </a:solidFill>
          <a:ln w="762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44568" y="5321808"/>
            <a:ext cx="329184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20">
                <a:solidFill>
                  <a:srgbClr val="E9B872"/>
                </a:solidFill>
                <a:latin typeface="Cascadia Mono"/>
                <a:ea typeface="Cascadia Mono"/>
              </a:rPr>
              <a:t>02 / 三层分离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4568" y="5532120"/>
            <a:ext cx="3291840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9C3B4"/>
                </a:solidFill>
                <a:latin typeface="Noto Sans SC"/>
                <a:ea typeface="Noto Sans SC"/>
              </a:rPr>
              <a:t>事实、声明、推断分开记录；UNKNOWN 保留。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93023" y="5230368"/>
            <a:ext cx="3611880" cy="932688"/>
          </a:xfrm>
          <a:prstGeom prst="rect">
            <a:avLst/>
          </a:prstGeom>
          <a:solidFill>
            <a:srgbClr val="10151D"/>
          </a:solidFill>
          <a:ln w="762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57615" y="5321808"/>
            <a:ext cx="329184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20">
                <a:solidFill>
                  <a:srgbClr val="E9B872"/>
                </a:solidFill>
                <a:latin typeface="Cascadia Mono"/>
                <a:ea typeface="Cascadia Mono"/>
              </a:rPr>
              <a:t>03 / 真值先冻结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57615" y="5532120"/>
            <a:ext cx="3291840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9C3B4"/>
                </a:solidFill>
                <a:latin typeface="Noto Sans SC"/>
                <a:ea typeface="Noto Sans SC"/>
              </a:rPr>
              <a:t>12 个场景、三方案同材料；先冻真值再跑算法。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04769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5390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308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6928" y="822960"/>
            <a:ext cx="11045952" cy="0"/>
          </a:xfrm>
          <a:prstGeom prst="line">
            <a:avLst/>
          </a:prstGeom>
          <a:ln w="6350">
            <a:solidFill>
              <a:srgbClr val="1A2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66928" y="310896"/>
            <a:ext cx="292608" cy="292608"/>
          </a:xfrm>
          <a:prstGeom prst="rect">
            <a:avLst/>
          </a:prstGeom>
          <a:solidFill>
            <a:srgbClr val="07090C"/>
          </a:solidFill>
          <a:ln w="7620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65760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4F0E4"/>
                </a:solidFill>
                <a:latin typeface="Cascadia Mono"/>
                <a:ea typeface="Cascadia Mono"/>
              </a:rPr>
              <a:t>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20040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0E4"/>
                </a:solidFill>
                <a:latin typeface="Noto Sans SC"/>
                <a:ea typeface="Noto Sans SC"/>
              </a:rPr>
              <a:t>PrivacyTrace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521207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40">
                <a:solidFill>
                  <a:srgbClr val="98A2B3"/>
                </a:solidFill>
                <a:latin typeface="Cascadia Mono"/>
                <a:ea typeface="Cascadia Mono"/>
              </a:rPr>
              <a:t>作品评审 / EXPERT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941832"/>
            <a:ext cx="493776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140">
                <a:solidFill>
                  <a:srgbClr val="E9B872"/>
                </a:solidFill>
                <a:latin typeface="Cascadia Mono"/>
                <a:ea typeface="Cascadia Mono"/>
              </a:rPr>
              <a:t>03 / 关键实现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12471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200">
                <a:solidFill>
                  <a:srgbClr val="6E7888"/>
                </a:solidFill>
                <a:latin typeface="Cascadia Mono"/>
                <a:ea typeface="Cascadia Mono"/>
              </a:rPr>
              <a:t>IMPLEMENTATION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555E6C"/>
                </a:solidFill>
                <a:latin typeface="Cascadia Mono"/>
                <a:ea typeface="Cascadia Mono"/>
              </a:rPr>
              <a:t>PRIVACYTRACE / REVIEW DECK /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6473952"/>
            <a:ext cx="6858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E6C"/>
                </a:solidFill>
                <a:latin typeface="Cascadia Mono"/>
                <a:ea typeface="Cascadia Mono"/>
              </a:rPr>
              <a:t>04 /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417320"/>
            <a:ext cx="58521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4F0E4"/>
                </a:solidFill>
                <a:latin typeface="Noto Serif SC"/>
                <a:ea typeface="Noto Serif SC"/>
              </a:rPr>
              <a:t>一条流水线，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9B872"/>
                </a:solidFill>
                <a:latin typeface="Noto Serif SC"/>
                <a:ea typeface="Noto Serif SC"/>
              </a:rPr>
              <a:t>同一条证据链。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7240" y="3035808"/>
            <a:ext cx="7132320" cy="0"/>
          </a:xfrm>
          <a:prstGeom prst="line">
            <a:avLst/>
          </a:prstGeom>
          <a:ln w="10160">
            <a:solidFill>
              <a:srgbClr val="444C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736092" y="2994660"/>
            <a:ext cx="82296" cy="82296"/>
          </a:xfrm>
          <a:prstGeom prst="rect">
            <a:avLst/>
          </a:prstGeom>
          <a:solidFill>
            <a:srgbClr val="07090C"/>
          </a:solidFill>
          <a:ln w="10160">
            <a:solidFill>
              <a:srgbClr val="E9B8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-45720" y="3099816"/>
            <a:ext cx="164592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0E4"/>
                </a:solidFill>
                <a:latin typeface="Noto Sans SC"/>
                <a:ea typeface="Noto Sans SC"/>
              </a:rPr>
              <a:t>APK + 政策材料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45720" y="3300984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单包 / base + splits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19172" y="2994660"/>
            <a:ext cx="82296" cy="82296"/>
          </a:xfrm>
          <a:prstGeom prst="rect">
            <a:avLst/>
          </a:prstGeom>
          <a:solidFill>
            <a:srgbClr val="07090C"/>
          </a:solidFill>
          <a:ln w="10160">
            <a:solidFill>
              <a:srgbClr val="E9B8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37360" y="3099816"/>
            <a:ext cx="164592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0E4"/>
                </a:solidFill>
                <a:latin typeface="Noto Sans SC"/>
                <a:ea typeface="Noto Sans SC"/>
              </a:rPr>
              <a:t>隔离扫描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3300984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Docker · network none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02252" y="2994660"/>
            <a:ext cx="82296" cy="82296"/>
          </a:xfrm>
          <a:prstGeom prst="rect">
            <a:avLst/>
          </a:prstGeom>
          <a:solidFill>
            <a:srgbClr val="07090C"/>
          </a:solidFill>
          <a:ln w="10160">
            <a:solidFill>
              <a:srgbClr val="E9B8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099816"/>
            <a:ext cx="164592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0E4"/>
                </a:solidFill>
                <a:latin typeface="Noto Sans SC"/>
                <a:ea typeface="Noto Sans SC"/>
              </a:rPr>
              <a:t>证据 + 候选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3300984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代码位置 · 原句区间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5331" y="2994660"/>
            <a:ext cx="82296" cy="82296"/>
          </a:xfrm>
          <a:prstGeom prst="rect">
            <a:avLst/>
          </a:prstGeom>
          <a:solidFill>
            <a:srgbClr val="07090C"/>
          </a:solidFill>
          <a:ln w="10160">
            <a:solidFill>
              <a:srgbClr val="E9B8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519" y="3099816"/>
            <a:ext cx="164592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0E4"/>
                </a:solidFill>
                <a:latin typeface="Noto Sans SC"/>
                <a:ea typeface="Noto Sans SC"/>
              </a:rPr>
              <a:t>一致性对照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19" y="3300984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多状态 · 缺证据不升级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68412" y="2994660"/>
            <a:ext cx="82296" cy="82296"/>
          </a:xfrm>
          <a:prstGeom prst="rect">
            <a:avLst/>
          </a:prstGeom>
          <a:solidFill>
            <a:srgbClr val="07090C"/>
          </a:solidFill>
          <a:ln w="10160">
            <a:solidFill>
              <a:srgbClr val="E9B8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86600" y="3099816"/>
            <a:ext cx="164592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4F0E4"/>
                </a:solidFill>
                <a:latin typeface="Noto Sans SC"/>
                <a:ea typeface="Noto Sans SC"/>
              </a:rPr>
              <a:t>报告 / 回放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3300984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Web · Android · 离线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3520440"/>
            <a:ext cx="5806440" cy="2560320"/>
          </a:xfrm>
          <a:prstGeom prst="rect">
            <a:avLst/>
          </a:prstGeom>
          <a:solidFill>
            <a:srgbClr val="10151D"/>
          </a:solidFill>
          <a:ln w="889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3657600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E9B872"/>
                </a:solidFill>
                <a:latin typeface="Cascadia Mono"/>
                <a:ea typeface="Cascadia Mono"/>
              </a:rPr>
              <a:t>隔离扫描 / CONTAINER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877056"/>
            <a:ext cx="26517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非 root 65534:65534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network=none · 只读根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cap-drop ALL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1 CPU · 1 GiB · PID 32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3657600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E9B872"/>
                </a:solidFill>
                <a:latin typeface="Cascadia Mono"/>
                <a:ea typeface="Cascadia Mono"/>
              </a:rPr>
              <a:t>静态分析 / STATIC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3877056"/>
            <a:ext cx="26517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Androguard 4.1.3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AXML + 全部 classesN.dex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缺 JADX → 字节码兜底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方法内无分支局部常量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4773168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E9B872"/>
                </a:solidFill>
                <a:latin typeface="Cascadia Mono"/>
                <a:ea typeface="Cascadia Mono"/>
              </a:rPr>
              <a:t>政策快照 / POLICY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992624"/>
            <a:ext cx="26517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Unicode 码点半开区间 [start,end)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切片 == excerpt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旧快照不覆盖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来源 · 版本 · 采集时点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4773168"/>
            <a:ext cx="2651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E9B872"/>
                </a:solidFill>
                <a:latin typeface="Cascadia Mono"/>
                <a:ea typeface="Cascadia Mono"/>
              </a:rPr>
              <a:t>引擎与运行 / ENGINE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0" y="4992624"/>
            <a:ext cx="265176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FastAPI · Pydantic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PostgreSQL outbox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Redis · Celery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mTLS Runner · 不持 Docker socket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8" y="5897880"/>
            <a:ext cx="53949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9AA4B2"/>
                </a:solidFill>
                <a:latin typeface="Noto Sans SC"/>
                <a:ea typeface="Noto Sans SC"/>
              </a:rPr>
              <a:t>未知 APK 只在隔离容器里解析；扫描结束删除副本。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46520" y="3611880"/>
            <a:ext cx="210312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spc="110">
                <a:solidFill>
                  <a:srgbClr val="E9B872"/>
                </a:solidFill>
                <a:latin typeface="Cascadia Mono"/>
                <a:ea typeface="Cascadia Mono"/>
              </a:rPr>
              <a:t>移动报告 · 开发版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3822191"/>
            <a:ext cx="214884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9AA4B2"/>
                </a:solidFill>
                <a:latin typeface="Cascadia Mono"/>
                <a:ea typeface="Cascadia Mono"/>
              </a:rPr>
              <a:t>2026-10-23 采集 @ f81ca20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446520" y="4114800"/>
            <a:ext cx="2057400" cy="0"/>
          </a:xfrm>
          <a:prstGeom prst="line">
            <a:avLst/>
          </a:prstGeom>
          <a:ln w="7620">
            <a:solidFill>
              <a:srgbClr val="3A42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446520" y="4224528"/>
            <a:ext cx="205740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4F0E4"/>
                </a:solidFill>
                <a:latin typeface="Noto Serif SC"/>
                <a:ea typeface="Noto Serif SC"/>
              </a:rPr>
              <a:t>构造材料 /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4F0E4"/>
                </a:solidFill>
                <a:latin typeface="Noto Serif SC"/>
                <a:ea typeface="Noto Serif SC"/>
              </a:rPr>
              <a:t>持久化回放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46520" y="4937760"/>
            <a:ext cx="21031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>
                <a:solidFill>
                  <a:srgbClr val="8B6A3E"/>
                </a:solidFill>
                <a:latin typeface="Cascadia Mono"/>
                <a:ea typeface="Cascadia Mono"/>
              </a:rPr>
              <a:t>SYNTHETIC · PERSISTED_REPLAY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46520" y="530352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C9C3B4"/>
                </a:solidFill>
                <a:latin typeface="Noto Sans SC"/>
                <a:ea typeface="Noto Sans SC"/>
              </a:rPr>
              <a:t>数据类型 2 · 政策来源 1 · 证据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46520" y="5504688"/>
            <a:ext cx="210312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E9B872"/>
                </a:solidFill>
                <a:latin typeface="Cascadia Mono"/>
                <a:ea typeface="Cascadia Mono"/>
              </a:rPr>
              <a:t>两条结论均待复核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594360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>
                <a:solidFill>
                  <a:srgbClr val="6E7888"/>
                </a:solidFill>
                <a:latin typeface="Noto Sans SC"/>
                <a:ea typeface="Noto Sans SC"/>
              </a:rPr>
              <a:t>界面仍在开发；最终视觉可能变化。</a:t>
            </a:r>
          </a:p>
        </p:txBody>
      </p:sp>
      <p:pic>
        <p:nvPicPr>
          <p:cNvPr id="50" name="Picture 49" descr="mobile-report-390x844-dpr3-fr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225296"/>
            <a:ext cx="2651760" cy="55880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04769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5390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308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6928" y="822960"/>
            <a:ext cx="11045952" cy="0"/>
          </a:xfrm>
          <a:prstGeom prst="line">
            <a:avLst/>
          </a:prstGeom>
          <a:ln w="6350">
            <a:solidFill>
              <a:srgbClr val="1A2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66928" y="310896"/>
            <a:ext cx="292608" cy="292608"/>
          </a:xfrm>
          <a:prstGeom prst="rect">
            <a:avLst/>
          </a:prstGeom>
          <a:solidFill>
            <a:srgbClr val="07090C"/>
          </a:solidFill>
          <a:ln w="7620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65760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4F0E4"/>
                </a:solidFill>
                <a:latin typeface="Cascadia Mono"/>
                <a:ea typeface="Cascadia Mono"/>
              </a:rPr>
              <a:t>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20040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0E4"/>
                </a:solidFill>
                <a:latin typeface="Noto Sans SC"/>
                <a:ea typeface="Noto Sans SC"/>
              </a:rPr>
              <a:t>PrivacyTrace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521207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40">
                <a:solidFill>
                  <a:srgbClr val="98A2B3"/>
                </a:solidFill>
                <a:latin typeface="Cascadia Mono"/>
                <a:ea typeface="Cascadia Mono"/>
              </a:rPr>
              <a:t>作品评审 / EXPERT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941832"/>
            <a:ext cx="493776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140">
                <a:solidFill>
                  <a:srgbClr val="E9B872"/>
                </a:solidFill>
                <a:latin typeface="Cascadia Mono"/>
                <a:ea typeface="Cascadia Mono"/>
              </a:rPr>
              <a:t>04 / 真实成果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12471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200">
                <a:solidFill>
                  <a:srgbClr val="6E7888"/>
                </a:solidFill>
                <a:latin typeface="Cascadia Mono"/>
                <a:ea typeface="Cascadia Mono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555E6C"/>
                </a:solidFill>
                <a:latin typeface="Cascadia Mono"/>
                <a:ea typeface="Cascadia Mono"/>
              </a:rPr>
              <a:t>PRIVACYTRACE / REVIEW DECK /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6473952"/>
            <a:ext cx="6858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E6C"/>
                </a:solidFill>
                <a:latin typeface="Cascadia Mono"/>
                <a:ea typeface="Cascadia Mono"/>
              </a:rPr>
              <a:t>05 /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417320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4F0E4"/>
                </a:solidFill>
                <a:latin typeface="Noto Serif SC"/>
                <a:ea typeface="Noto Serif SC"/>
              </a:rPr>
              <a:t>把四类数字</a:t>
            </a:r>
            <a:r>
              <a:rPr sz="2800" b="1">
                <a:solidFill>
                  <a:srgbClr val="E9B872"/>
                </a:solidFill>
                <a:latin typeface="Noto Serif SC"/>
                <a:ea typeface="Noto Serif SC"/>
              </a:rPr>
              <a:t>分开报。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3611880" cy="2331720"/>
          </a:xfrm>
          <a:prstGeom prst="rect">
            <a:avLst/>
          </a:prstGeom>
          <a:solidFill>
            <a:srgbClr val="10151D"/>
          </a:solidFill>
          <a:ln w="889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249424"/>
            <a:ext cx="320040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00">
                <a:solidFill>
                  <a:srgbClr val="E9B872"/>
                </a:solidFill>
                <a:latin typeface="Cascadia Mono"/>
                <a:ea typeface="Cascadia Mono"/>
              </a:rPr>
              <a:t>工程门禁 / ENGINEERING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487168"/>
            <a:ext cx="18288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F4F0E4"/>
                </a:solidFill>
                <a:latin typeface="Cascadia Mono"/>
                <a:ea typeface="Cascadia Mono"/>
              </a:rPr>
              <a:t>1578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2888" y="2788920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8A2B3"/>
                </a:solidFill>
                <a:latin typeface="Cascadia Mono"/>
                <a:ea typeface="Cascadia Mono"/>
              </a:rPr>
              <a:t>passed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246120"/>
            <a:ext cx="320040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179 skipped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e2e 65 · Web 111 · 生产构建通过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160520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65b49f7 · 2026-10-21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9976" y="2103120"/>
            <a:ext cx="3611880" cy="2331720"/>
          </a:xfrm>
          <a:prstGeom prst="rect">
            <a:avLst/>
          </a:prstGeom>
          <a:solidFill>
            <a:srgbClr val="10151D"/>
          </a:solidFill>
          <a:ln w="889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81144" y="2249424"/>
            <a:ext cx="320040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00">
                <a:solidFill>
                  <a:srgbClr val="E9B872"/>
                </a:solidFill>
                <a:latin typeface="Cascadia Mono"/>
                <a:ea typeface="Cascadia Mono"/>
              </a:rPr>
              <a:t>部署验收 / DEPLOYMENT R1–R6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1144" y="2487168"/>
            <a:ext cx="18288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F4F0E4"/>
                </a:solidFill>
                <a:latin typeface="Cascadia Mono"/>
                <a:ea typeface="Cascadia Mono"/>
              </a:rPr>
              <a:t>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14416" y="2788920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8A2B3"/>
                </a:solidFill>
                <a:latin typeface="Cascadia Mono"/>
                <a:ea typeface="Cascadia Mono"/>
              </a:rPr>
              <a:t>pass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1144" y="3246120"/>
            <a:ext cx="320040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0 fail · 0 skip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四入口 4/4；唯一既有豁免 dedicated-scan-host-verification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81144" y="4160520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65b49f7 · 用户授权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93023" y="2103120"/>
            <a:ext cx="3611880" cy="2331720"/>
          </a:xfrm>
          <a:prstGeom prst="rect">
            <a:avLst/>
          </a:prstGeom>
          <a:solidFill>
            <a:srgbClr val="10151D"/>
          </a:solidFill>
          <a:ln w="889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94192" y="2249424"/>
            <a:ext cx="320040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00">
                <a:solidFill>
                  <a:srgbClr val="E9B872"/>
                </a:solidFill>
                <a:latin typeface="Cascadia Mono"/>
                <a:ea typeface="Cascadia Mono"/>
              </a:rPr>
              <a:t>受控评测 / CONTROLLED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487168"/>
            <a:ext cx="18288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F4F0E4"/>
                </a:solidFill>
                <a:latin typeface="Cascadia Mono"/>
                <a:ea typeface="Cascadia Mono"/>
              </a:rPr>
              <a:t>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81744" y="2788920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8A2B3"/>
                </a:solidFill>
                <a:latin typeface="Cascadia Mono"/>
                <a:ea typeface="Cascadia Mono"/>
              </a:rPr>
              <a:t>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246120"/>
            <a:ext cx="320040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API 基线 4/12 · 权限+关键词 2/12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36 行 · 失败 0 · P/R/F1 = N/A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160520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b0b3c74 · 名义状态对照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475488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4F0E4"/>
                </a:solidFill>
                <a:latin typeface="Noto Serif SC"/>
                <a:ea typeface="Noto Serif SC"/>
              </a:rPr>
              <a:t>工程测试 ≠ 受控评测 ≠ 真实 App 准确率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5138928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A4B2"/>
                </a:solidFill>
                <a:latin typeface="Noto Sans SC"/>
                <a:ea typeface="Noto Sans SC"/>
              </a:rPr>
              <a:t>受控场景是自建源码场景的名义状态对照，不推广为真实 App 的检测准确率；P/R/F1 按协议为 N/A。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57784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60">
                <a:solidFill>
                  <a:srgbClr val="E9B872"/>
                </a:solidFill>
                <a:latin typeface="Cascadia Mono"/>
                <a:ea typeface="Cascadia Mono"/>
              </a:rPr>
              <a:t>未命中规则 ≠ 没有隐私行为。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04769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5390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308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6928" y="822960"/>
            <a:ext cx="11045952" cy="0"/>
          </a:xfrm>
          <a:prstGeom prst="line">
            <a:avLst/>
          </a:prstGeom>
          <a:ln w="6350">
            <a:solidFill>
              <a:srgbClr val="1A2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66928" y="310896"/>
            <a:ext cx="292608" cy="292608"/>
          </a:xfrm>
          <a:prstGeom prst="rect">
            <a:avLst/>
          </a:prstGeom>
          <a:solidFill>
            <a:srgbClr val="07090C"/>
          </a:solidFill>
          <a:ln w="7620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65760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4F0E4"/>
                </a:solidFill>
                <a:latin typeface="Cascadia Mono"/>
                <a:ea typeface="Cascadia Mono"/>
              </a:rPr>
              <a:t>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20040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0E4"/>
                </a:solidFill>
                <a:latin typeface="Noto Sans SC"/>
                <a:ea typeface="Noto Sans SC"/>
              </a:rPr>
              <a:t>PrivacyTrace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521207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40">
                <a:solidFill>
                  <a:srgbClr val="98A2B3"/>
                </a:solidFill>
                <a:latin typeface="Cascadia Mono"/>
                <a:ea typeface="Cascadia Mono"/>
              </a:rPr>
              <a:t>作品评审 / EXPERT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941832"/>
            <a:ext cx="493776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140">
                <a:solidFill>
                  <a:srgbClr val="E9B872"/>
                </a:solidFill>
                <a:latin typeface="Cascadia Mono"/>
                <a:ea typeface="Cascadia Mono"/>
              </a:rPr>
              <a:t>04 / 真实成果 · 边界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12471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200">
                <a:solidFill>
                  <a:srgbClr val="6E7888"/>
                </a:solidFill>
                <a:latin typeface="Cascadia Mono"/>
                <a:ea typeface="Cascadia Mono"/>
              </a:rPr>
              <a:t>RESULTS / BOUNDED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555E6C"/>
                </a:solidFill>
                <a:latin typeface="Cascadia Mono"/>
                <a:ea typeface="Cascadia Mono"/>
              </a:rPr>
              <a:t>PRIVACYTRACE / REVIEW DECK /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6473952"/>
            <a:ext cx="6858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E6C"/>
                </a:solidFill>
                <a:latin typeface="Cascadia Mono"/>
                <a:ea typeface="Cascadia Mono"/>
              </a:rPr>
              <a:t>06 /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417320"/>
            <a:ext cx="58521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4F0E4"/>
                </a:solidFill>
                <a:latin typeface="Noto Serif SC"/>
                <a:ea typeface="Noto Serif SC"/>
              </a:rPr>
              <a:t>把失败和缺口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E9B872"/>
                </a:solidFill>
                <a:latin typeface="Noto Serif SC"/>
                <a:ea typeface="Noto Serif SC"/>
              </a:rPr>
              <a:t>放在结果旁边。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743200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20">
                <a:solidFill>
                  <a:srgbClr val="E9B872"/>
                </a:solidFill>
                <a:latin typeface="Cascadia Mono"/>
                <a:ea typeface="Cascadia Mono"/>
              </a:rPr>
              <a:t>H 矩阵 / 12 个组合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926080"/>
            <a:ext cx="219456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F4F0E4"/>
                </a:solidFill>
                <a:latin typeface="Cascadia Mono"/>
                <a:ea typeface="Cascadia Mono"/>
              </a:rPr>
              <a:t>11 / 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273552"/>
            <a:ext cx="73152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8A2B3"/>
                </a:solidFill>
                <a:latin typeface="Cascadia Mono"/>
                <a:ea typeface="Cascadia Mono"/>
              </a:rPr>
              <a:t>通过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611880"/>
            <a:ext cx="530352" cy="256032"/>
          </a:xfrm>
          <a:prstGeom prst="rect">
            <a:avLst/>
          </a:prstGeom>
          <a:solidFill>
            <a:srgbClr val="0E1814"/>
          </a:solidFill>
          <a:ln w="7620">
            <a:solidFill>
              <a:srgbClr val="3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675888"/>
            <a:ext cx="47548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4C9A6"/>
                </a:solidFill>
                <a:latin typeface="Cascadia Mono"/>
                <a:ea typeface="Cascadia Mono"/>
              </a:rPr>
              <a:t>H01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70432" y="3611880"/>
            <a:ext cx="530352" cy="256032"/>
          </a:xfrm>
          <a:prstGeom prst="rect">
            <a:avLst/>
          </a:prstGeom>
          <a:solidFill>
            <a:srgbClr val="0E1814"/>
          </a:solidFill>
          <a:ln w="7620">
            <a:solidFill>
              <a:srgbClr val="3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97864" y="3675888"/>
            <a:ext cx="47548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4C9A6"/>
                </a:solidFill>
                <a:latin typeface="Cascadia Mono"/>
                <a:ea typeface="Cascadia Mono"/>
              </a:rPr>
              <a:t>H02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73936" y="3611880"/>
            <a:ext cx="530352" cy="256032"/>
          </a:xfrm>
          <a:prstGeom prst="rect">
            <a:avLst/>
          </a:prstGeom>
          <a:solidFill>
            <a:srgbClr val="0E1814"/>
          </a:solidFill>
          <a:ln w="7620">
            <a:solidFill>
              <a:srgbClr val="3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1368" y="3675888"/>
            <a:ext cx="47548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4C9A6"/>
                </a:solidFill>
                <a:latin typeface="Cascadia Mono"/>
                <a:ea typeface="Cascadia Mono"/>
              </a:rPr>
              <a:t>H03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77440" y="3611880"/>
            <a:ext cx="530352" cy="256032"/>
          </a:xfrm>
          <a:prstGeom prst="rect">
            <a:avLst/>
          </a:prstGeom>
          <a:solidFill>
            <a:srgbClr val="0E1814"/>
          </a:solidFill>
          <a:ln w="7620">
            <a:solidFill>
              <a:srgbClr val="3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04872" y="3675888"/>
            <a:ext cx="47548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4C9A6"/>
                </a:solidFill>
                <a:latin typeface="Cascadia Mono"/>
                <a:ea typeface="Cascadia Mono"/>
              </a:rPr>
              <a:t>H04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80944" y="3611880"/>
            <a:ext cx="530352" cy="256032"/>
          </a:xfrm>
          <a:prstGeom prst="rect">
            <a:avLst/>
          </a:prstGeom>
          <a:solidFill>
            <a:srgbClr val="0E1814"/>
          </a:solidFill>
          <a:ln w="7620">
            <a:solidFill>
              <a:srgbClr val="3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08376" y="3675888"/>
            <a:ext cx="47548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4C9A6"/>
                </a:solidFill>
                <a:latin typeface="Cascadia Mono"/>
                <a:ea typeface="Cascadia Mono"/>
              </a:rPr>
              <a:t>H05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84448" y="3611880"/>
            <a:ext cx="530352" cy="256032"/>
          </a:xfrm>
          <a:prstGeom prst="rect">
            <a:avLst/>
          </a:prstGeom>
          <a:solidFill>
            <a:srgbClr val="0E1814"/>
          </a:solidFill>
          <a:ln w="7620">
            <a:solidFill>
              <a:srgbClr val="3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11880" y="3675888"/>
            <a:ext cx="47548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4C9A6"/>
                </a:solidFill>
                <a:latin typeface="Cascadia Mono"/>
                <a:ea typeface="Cascadia Mono"/>
              </a:rPr>
              <a:t>H06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959352"/>
            <a:ext cx="530352" cy="256032"/>
          </a:xfrm>
          <a:prstGeom prst="rect">
            <a:avLst/>
          </a:prstGeom>
          <a:solidFill>
            <a:srgbClr val="0E1814"/>
          </a:solidFill>
          <a:ln w="7620">
            <a:solidFill>
              <a:srgbClr val="3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023360"/>
            <a:ext cx="47548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4C9A6"/>
                </a:solidFill>
                <a:latin typeface="Cascadia Mono"/>
                <a:ea typeface="Cascadia Mono"/>
              </a:rPr>
              <a:t>H07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0432" y="3959352"/>
            <a:ext cx="530352" cy="256032"/>
          </a:xfrm>
          <a:prstGeom prst="rect">
            <a:avLst/>
          </a:prstGeom>
          <a:solidFill>
            <a:srgbClr val="0E1814"/>
          </a:solidFill>
          <a:ln w="7620">
            <a:solidFill>
              <a:srgbClr val="3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97864" y="4023360"/>
            <a:ext cx="47548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4C9A6"/>
                </a:solidFill>
                <a:latin typeface="Cascadia Mono"/>
                <a:ea typeface="Cascadia Mono"/>
              </a:rPr>
              <a:t>H08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773936" y="3959352"/>
            <a:ext cx="530352" cy="256032"/>
          </a:xfrm>
          <a:prstGeom prst="rect">
            <a:avLst/>
          </a:prstGeom>
          <a:solidFill>
            <a:srgbClr val="0E1814"/>
          </a:solidFill>
          <a:ln w="7620">
            <a:solidFill>
              <a:srgbClr val="3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801368" y="4023360"/>
            <a:ext cx="47548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4C9A6"/>
                </a:solidFill>
                <a:latin typeface="Cascadia Mono"/>
                <a:ea typeface="Cascadia Mono"/>
              </a:rPr>
              <a:t>H09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77440" y="3959352"/>
            <a:ext cx="530352" cy="256032"/>
          </a:xfrm>
          <a:prstGeom prst="rect">
            <a:avLst/>
          </a:prstGeom>
          <a:solidFill>
            <a:srgbClr val="0E1814"/>
          </a:solidFill>
          <a:ln w="7620">
            <a:solidFill>
              <a:srgbClr val="3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04872" y="4023360"/>
            <a:ext cx="47548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4C9A6"/>
                </a:solidFill>
                <a:latin typeface="Cascadia Mono"/>
                <a:ea typeface="Cascadia Mono"/>
              </a:rPr>
              <a:t>H10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80944" y="3959352"/>
            <a:ext cx="530352" cy="256032"/>
          </a:xfrm>
          <a:prstGeom prst="rect">
            <a:avLst/>
          </a:prstGeom>
          <a:solidFill>
            <a:srgbClr val="0E1814"/>
          </a:solidFill>
          <a:ln w="7620">
            <a:solidFill>
              <a:srgbClr val="3E6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008376" y="4023360"/>
            <a:ext cx="47548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84C9A6"/>
                </a:solidFill>
                <a:latin typeface="Cascadia Mono"/>
                <a:ea typeface="Cascadia Mono"/>
              </a:rPr>
              <a:t>H11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84448" y="3959352"/>
            <a:ext cx="530352" cy="256032"/>
          </a:xfrm>
          <a:prstGeom prst="rect">
            <a:avLst/>
          </a:prstGeom>
          <a:solidFill>
            <a:srgbClr val="1A1010"/>
          </a:solidFill>
          <a:ln w="7620">
            <a:solidFill>
              <a:srgbClr val="E58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11880" y="4023360"/>
            <a:ext cx="475488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E58978"/>
                </a:solidFill>
                <a:latin typeface="Cascadia Mono"/>
                <a:ea typeface="Cascadia Mono"/>
              </a:rPr>
              <a:t>H12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4370832"/>
            <a:ext cx="3657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E58978"/>
                </a:solidFill>
                <a:latin typeface="Cascadia Mono"/>
                <a:ea typeface="Cascadia Mono"/>
              </a:rPr>
              <a:t>H12 · J × splits × 手机模型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4572000"/>
            <a:ext cx="3657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9C3B4"/>
                </a:solidFill>
                <a:latin typeface="Noto Sans SC"/>
                <a:ea typeface="Noto Sans SC"/>
              </a:rPr>
              <a:t>失败已复现 2 次，保留。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2743200"/>
            <a:ext cx="5349240" cy="2057400"/>
          </a:xfrm>
          <a:prstGeom prst="rect">
            <a:avLst/>
          </a:prstGeom>
          <a:solidFill>
            <a:srgbClr val="10151D"/>
          </a:solidFill>
          <a:ln w="889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73952" y="2907792"/>
            <a:ext cx="49377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60">
                <a:solidFill>
                  <a:srgbClr val="E9B872"/>
                </a:solidFill>
                <a:latin typeface="Cascadia Mono"/>
                <a:ea typeface="Cascadia Mono"/>
              </a:rPr>
              <a:t>真实 App 案例 / GKD v1.12.1（仅 1 个历史样本）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73952" y="320040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4F0E4"/>
                </a:solidFill>
                <a:latin typeface="Noto Sans SC"/>
                <a:ea typeface="Noto Sans SC"/>
              </a:rPr>
              <a:t>6 证据  /  3 行为  /  2 声明  /  3 问题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73952" y="3547872"/>
            <a:ext cx="49377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40">
                <a:solidFill>
                  <a:srgbClr val="E58978"/>
                </a:solidFill>
                <a:latin typeface="Cascadia Mono"/>
                <a:ea typeface="Cascadia Mono"/>
              </a:rPr>
              <a:t>3 条结论均 INSUFFICIENT_EVIDENCE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73952" y="38587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2"/>
                </a:solidFill>
                <a:latin typeface="Noto Sans SC"/>
                <a:ea typeface="Noto Sans SC"/>
              </a:rPr>
              <a:t>2026-10-09 历史记录；本轮未重扫，也不代表实际采集。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66928" y="5074920"/>
            <a:ext cx="3566159" cy="0"/>
          </a:xfrm>
          <a:prstGeom prst="line">
            <a:avLst/>
          </a:prstGeom>
          <a:ln w="10160">
            <a:solidFill>
              <a:srgbClr val="3A42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66928" y="5184648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0E4"/>
                </a:solidFill>
                <a:latin typeface="Noto Sans SC"/>
                <a:ea typeface="Noto Sans SC"/>
              </a:rPr>
              <a:t>工程测试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5440680"/>
            <a:ext cx="35661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2"/>
                </a:solidFill>
                <a:latin typeface="Cascadia Mono"/>
                <a:ea typeface="Cascadia Mono"/>
              </a:rPr>
              <a:t>代码按预期运行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69663" y="4983480"/>
            <a:ext cx="2743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Noto Serif SC"/>
                <a:ea typeface="Noto Serif SC"/>
              </a:rPr>
              <a:t>≠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379976" y="5074920"/>
            <a:ext cx="3566160" cy="0"/>
          </a:xfrm>
          <a:prstGeom prst="line">
            <a:avLst/>
          </a:prstGeom>
          <a:ln w="10160">
            <a:solidFill>
              <a:srgbClr val="3A42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379976" y="5184648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0E4"/>
                </a:solidFill>
                <a:latin typeface="Noto Sans SC"/>
                <a:ea typeface="Noto Sans SC"/>
              </a:rPr>
              <a:t>受控评测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79976" y="5440680"/>
            <a:ext cx="35661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2"/>
                </a:solidFill>
                <a:latin typeface="Cascadia Mono"/>
                <a:ea typeface="Cascadia Mono"/>
              </a:rPr>
              <a:t>自建场景 · 名义状态对照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82712" y="4983480"/>
            <a:ext cx="2743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Noto Serif SC"/>
                <a:ea typeface="Noto Serif SC"/>
              </a:rPr>
              <a:t>≠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193023" y="5074920"/>
            <a:ext cx="3566161" cy="0"/>
          </a:xfrm>
          <a:prstGeom prst="line">
            <a:avLst/>
          </a:prstGeom>
          <a:ln w="10160">
            <a:solidFill>
              <a:srgbClr val="3A42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193023" y="5184648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8978"/>
                </a:solidFill>
                <a:latin typeface="Noto Sans SC"/>
                <a:ea typeface="Noto Sans SC"/>
              </a:rPr>
              <a:t>真实 App 准确率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93023" y="5440680"/>
            <a:ext cx="35661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2"/>
                </a:solidFill>
                <a:latin typeface="Cascadia Mono"/>
                <a:ea typeface="Cascadia Mono"/>
              </a:rPr>
              <a:t>未做 · 不宣称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5806440"/>
            <a:ext cx="585216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4F0E4"/>
                </a:solidFill>
                <a:latin typeface="Noto Serif SC"/>
                <a:ea typeface="Noto Serif SC"/>
              </a:rPr>
              <a:t>证据不足，也要写进报告。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6217920"/>
            <a:ext cx="10515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7888"/>
                </a:solidFill>
                <a:latin typeface="Noto Sans SC"/>
                <a:ea typeface="Noto Sans SC"/>
              </a:rPr>
              <a:t>受控结果不推广为真实 App 的检测准确率；未命中规则 ≠ 没有隐私行为。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04769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5390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308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6928" y="822960"/>
            <a:ext cx="11045952" cy="0"/>
          </a:xfrm>
          <a:prstGeom prst="line">
            <a:avLst/>
          </a:prstGeom>
          <a:ln w="6350">
            <a:solidFill>
              <a:srgbClr val="1A2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66928" y="310896"/>
            <a:ext cx="292608" cy="292608"/>
          </a:xfrm>
          <a:prstGeom prst="rect">
            <a:avLst/>
          </a:prstGeom>
          <a:solidFill>
            <a:srgbClr val="07090C"/>
          </a:solidFill>
          <a:ln w="7620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65760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4F0E4"/>
                </a:solidFill>
                <a:latin typeface="Cascadia Mono"/>
                <a:ea typeface="Cascadia Mono"/>
              </a:rPr>
              <a:t>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20040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0E4"/>
                </a:solidFill>
                <a:latin typeface="Noto Sans SC"/>
                <a:ea typeface="Noto Sans SC"/>
              </a:rPr>
              <a:t>PrivacyTrace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521207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40">
                <a:solidFill>
                  <a:srgbClr val="98A2B3"/>
                </a:solidFill>
                <a:latin typeface="Cascadia Mono"/>
                <a:ea typeface="Cascadia Mono"/>
              </a:rPr>
              <a:t>作品评审 / EXPERT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941832"/>
            <a:ext cx="493776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140">
                <a:solidFill>
                  <a:srgbClr val="E9B872"/>
                </a:solidFill>
                <a:latin typeface="Cascadia Mono"/>
                <a:ea typeface="Cascadia Mono"/>
              </a:rPr>
              <a:t>05 / 学生原创贡献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12471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200">
                <a:solidFill>
                  <a:srgbClr val="6E7888"/>
                </a:solidFill>
                <a:latin typeface="Cascadia Mono"/>
                <a:ea typeface="Cascadia Mono"/>
              </a:rPr>
              <a:t>ORIGINAL CONTRIBUTION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555E6C"/>
                </a:solidFill>
                <a:latin typeface="Cascadia Mono"/>
                <a:ea typeface="Cascadia Mono"/>
              </a:rPr>
              <a:t>PRIVACYTRACE / REVIEW DECK /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6473952"/>
            <a:ext cx="6858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E6C"/>
                </a:solidFill>
                <a:latin typeface="Cascadia Mono"/>
                <a:ea typeface="Cascadia Mono"/>
              </a:rPr>
              <a:t>07 /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417320"/>
            <a:ext cx="58521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4F0E4"/>
                </a:solidFill>
                <a:latin typeface="Noto Serif SC"/>
                <a:ea typeface="Noto Serif SC"/>
              </a:rPr>
              <a:t>团队提出什么，</a:t>
            </a:r>
            <a:r>
              <a:rPr sz="2800" b="1">
                <a:solidFill>
                  <a:srgbClr val="E9B872"/>
                </a:solidFill>
                <a:latin typeface="Noto Serif SC"/>
                <a:ea typeface="Noto Serif SC"/>
              </a:rPr>
              <a:t>AI 辅助什么。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1993392"/>
            <a:ext cx="5486400" cy="3749039"/>
          </a:xfrm>
          <a:prstGeom prst="rect">
            <a:avLst/>
          </a:prstGeom>
          <a:solidFill>
            <a:srgbClr val="F4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215798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40">
                <a:solidFill>
                  <a:srgbClr val="8B3A2D"/>
                </a:solidFill>
                <a:latin typeface="Cascadia Mono"/>
                <a:ea typeface="Cascadia Mono"/>
              </a:rPr>
              <a:t>团队提出并执行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2487168"/>
            <a:ext cx="32004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B3A2D"/>
                </a:solidFill>
                <a:latin typeface="Cascadia Mono"/>
                <a:ea typeface="Cascadia Mono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487168"/>
            <a:ext cx="45720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71B22"/>
                </a:solidFill>
                <a:latin typeface="Noto Sans SC"/>
                <a:ea typeface="Noto Sans SC"/>
              </a:rPr>
              <a:t>项目定位与「只对照，不判定」边界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04672" y="2798064"/>
            <a:ext cx="4956048" cy="0"/>
          </a:xfrm>
          <a:prstGeom prst="line">
            <a:avLst/>
          </a:prstGeom>
          <a:ln w="6350">
            <a:solidFill>
              <a:srgbClr val="D8D0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04672" y="2962656"/>
            <a:ext cx="32004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B3A2D"/>
                </a:solidFill>
                <a:latin typeface="Cascadia Mono"/>
                <a:ea typeface="Cascadia Mono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2962656"/>
            <a:ext cx="45720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71B22"/>
                </a:solidFill>
                <a:latin typeface="Noto Sans SC"/>
                <a:ea typeface="Noto Sans SC"/>
              </a:rPr>
              <a:t>证据模型与一致性状态机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04672" y="3273552"/>
            <a:ext cx="4956048" cy="0"/>
          </a:xfrm>
          <a:prstGeom prst="line">
            <a:avLst/>
          </a:prstGeom>
          <a:ln w="6350">
            <a:solidFill>
              <a:srgbClr val="D8D0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04672" y="3438144"/>
            <a:ext cx="32004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B3A2D"/>
                </a:solidFill>
                <a:latin typeface="Cascadia Mono"/>
                <a:ea typeface="Cascadia Mono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3438144"/>
            <a:ext cx="45720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71B22"/>
                </a:solidFill>
                <a:latin typeface="Noto Sans SC"/>
                <a:ea typeface="Noto Sans SC"/>
              </a:rPr>
              <a:t>确定性规则与字节码归因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04672" y="3749040"/>
            <a:ext cx="4956048" cy="0"/>
          </a:xfrm>
          <a:prstGeom prst="line">
            <a:avLst/>
          </a:prstGeom>
          <a:ln w="6350">
            <a:solidFill>
              <a:srgbClr val="D8D0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04672" y="3913632"/>
            <a:ext cx="32004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B3A2D"/>
                </a:solidFill>
                <a:latin typeface="Cascadia Mono"/>
                <a:ea typeface="Cascadia Mono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3913632"/>
            <a:ext cx="45720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71B22"/>
                </a:solidFill>
                <a:latin typeface="Noto Sans SC"/>
                <a:ea typeface="Noto Sans SC"/>
              </a:rPr>
              <a:t>受控场景 · 冻结真值 · 三方案对照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04672" y="4224528"/>
            <a:ext cx="4956048" cy="0"/>
          </a:xfrm>
          <a:prstGeom prst="line">
            <a:avLst/>
          </a:prstGeom>
          <a:ln w="6350">
            <a:solidFill>
              <a:srgbClr val="D8D0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04672" y="4389120"/>
            <a:ext cx="32004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B3A2D"/>
                </a:solidFill>
                <a:latin typeface="Cascadia Mono"/>
                <a:ea typeface="Cascadia Mono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389120"/>
            <a:ext cx="45720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71B22"/>
                </a:solidFill>
                <a:latin typeface="Noto Sans SC"/>
                <a:ea typeface="Noto Sans SC"/>
              </a:rPr>
              <a:t>验收治理：Issue / PR / check.sh 门禁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04672" y="4700016"/>
            <a:ext cx="4956048" cy="0"/>
          </a:xfrm>
          <a:prstGeom prst="line">
            <a:avLst/>
          </a:prstGeom>
          <a:ln w="6350">
            <a:solidFill>
              <a:srgbClr val="D8D0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04672" y="5010912"/>
            <a:ext cx="484632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8B3A2D"/>
                </a:solidFill>
                <a:latin typeface="Cascadia Mono"/>
                <a:ea typeface="Cascadia Mono"/>
              </a:rPr>
              <a:t>问题定义 → 证据模型 → 规则归因 → 受控基准 → 验收治理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" y="541324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5D5A52"/>
                </a:solidFill>
                <a:latin typeface="Noto Sans SC"/>
                <a:ea typeface="Noto Sans SC"/>
              </a:rPr>
              <a:t>参赛团队提出并执行；身份与分工以报名及提交记录为准。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1993392"/>
            <a:ext cx="5303520" cy="3749039"/>
          </a:xfrm>
          <a:prstGeom prst="rect">
            <a:avLst/>
          </a:prstGeom>
          <a:solidFill>
            <a:srgbClr val="10151D"/>
          </a:solidFill>
          <a:ln w="889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28816" y="215798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40">
                <a:solidFill>
                  <a:srgbClr val="E9B872"/>
                </a:solidFill>
                <a:latin typeface="Cascadia Mono"/>
                <a:ea typeface="Cascadia Mono"/>
              </a:rPr>
              <a:t>AI 辅助 · 披露在案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8816" y="2468880"/>
            <a:ext cx="466344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F0E4"/>
                </a:solidFill>
                <a:latin typeface="Noto Serif SC"/>
                <a:ea typeface="Noto Serif SC"/>
              </a:rPr>
              <a:t>脚手架与接口胶水。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F0E4"/>
                </a:solidFill>
                <a:latin typeface="Noto Serif SC"/>
                <a:ea typeface="Noto Serif SC"/>
              </a:rPr>
              <a:t>测试与验收脚本。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F0E4"/>
                </a:solidFill>
                <a:latin typeface="Noto Serif SC"/>
                <a:ea typeface="Noto Serif SC"/>
              </a:rPr>
              <a:t>文档与文案草稿。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28816" y="3822191"/>
            <a:ext cx="466344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9C3B4"/>
                </a:solidFill>
                <a:latin typeface="Noto Sans SC"/>
                <a:ea typeface="Noto Sans SC"/>
              </a:rPr>
              <a:t>边界：不宣称 100% 独立，也不给出比例。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8816" y="41605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2"/>
                </a:solidFill>
                <a:latin typeface="Noto Sans SC"/>
                <a:ea typeface="Noto Sans SC"/>
              </a:rPr>
              <a:t>第三方：Androguard 4.1.3（Apache-2.0）· FastAPI · Vue 3 · PostgreSQL · Tauri 2。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28816" y="4846320"/>
            <a:ext cx="46634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8B6A3E"/>
                </a:solidFill>
                <a:latin typeface="Cascadia Mono"/>
                <a:ea typeface="Cascadia Mono"/>
              </a:rPr>
              <a:t>工具 → 用途 → 受影响文件 → 人工修改 → 复核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8816" y="5230368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9AA4B2"/>
                </a:solidFill>
                <a:latin typeface="Noto Sans SC"/>
                <a:ea typeface="Noto Sans SC"/>
              </a:rPr>
              <a:t>披露范围：工具、用途、受影响文件与人工修改；具体归属以提交记录为准。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5833872"/>
            <a:ext cx="10972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C9C3B4"/>
                </a:solidFill>
                <a:latin typeface="Cascadia Mono"/>
                <a:ea typeface="Cascadia Mono"/>
              </a:rPr>
              <a:t>65b49f7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5998464"/>
            <a:ext cx="109728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工程门禁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52928" y="5833872"/>
            <a:ext cx="10972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C9C3B4"/>
                </a:solidFill>
                <a:latin typeface="Cascadia Mono"/>
                <a:ea typeface="Cascadia Mono"/>
              </a:rPr>
              <a:t>323780c9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52928" y="5998464"/>
            <a:ext cx="109728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六场景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38928" y="5833872"/>
            <a:ext cx="10972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C9C3B4"/>
                </a:solidFill>
                <a:latin typeface="Cascadia Mono"/>
                <a:ea typeface="Cascadia Mono"/>
              </a:rPr>
              <a:t>b0b3c74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38928" y="5998464"/>
            <a:ext cx="109728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十二场景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24927" y="5833872"/>
            <a:ext cx="10972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C9C3B4"/>
                </a:solidFill>
                <a:latin typeface="Cascadia Mono"/>
                <a:ea typeface="Cascadia Mono"/>
              </a:rPr>
              <a:t>9e56771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24927" y="5998464"/>
            <a:ext cx="109728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离线包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10928" y="5833872"/>
            <a:ext cx="10972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C9C3B4"/>
                </a:solidFill>
                <a:latin typeface="Cascadia Mono"/>
                <a:ea typeface="Cascadia Mono"/>
              </a:rPr>
              <a:t>2626152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10928" y="5998464"/>
            <a:ext cx="109728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7888"/>
                </a:solidFill>
                <a:latin typeface="Cascadia Mono"/>
                <a:ea typeface="Cascadia Mono"/>
              </a:rPr>
              <a:t>H 矩阵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36208"/>
            <a:ext cx="868680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7888"/>
                </a:solidFill>
                <a:latin typeface="Noto Sans SC"/>
                <a:ea typeface="Noto Sans SC"/>
              </a:rPr>
              <a:t>每个数字绑定各自的提交与日期，不写成「当前版本」。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04769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5390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308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6928" y="822960"/>
            <a:ext cx="11045952" cy="0"/>
          </a:xfrm>
          <a:prstGeom prst="line">
            <a:avLst/>
          </a:prstGeom>
          <a:ln w="6350">
            <a:solidFill>
              <a:srgbClr val="1A2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66928" y="310896"/>
            <a:ext cx="292608" cy="292608"/>
          </a:xfrm>
          <a:prstGeom prst="rect">
            <a:avLst/>
          </a:prstGeom>
          <a:solidFill>
            <a:srgbClr val="07090C"/>
          </a:solidFill>
          <a:ln w="7620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65760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4F0E4"/>
                </a:solidFill>
                <a:latin typeface="Cascadia Mono"/>
                <a:ea typeface="Cascadia Mono"/>
              </a:rPr>
              <a:t>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20040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0E4"/>
                </a:solidFill>
                <a:latin typeface="Noto Sans SC"/>
                <a:ea typeface="Noto Sans SC"/>
              </a:rPr>
              <a:t>PrivacyTrace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521207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40">
                <a:solidFill>
                  <a:srgbClr val="98A2B3"/>
                </a:solidFill>
                <a:latin typeface="Cascadia Mono"/>
                <a:ea typeface="Cascadia Mono"/>
              </a:rPr>
              <a:t>作品评审 / EXPERT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941832"/>
            <a:ext cx="493776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140">
                <a:solidFill>
                  <a:srgbClr val="E9B872"/>
                </a:solidFill>
                <a:latin typeface="Cascadia Mono"/>
                <a:ea typeface="Cascadia Mono"/>
              </a:rPr>
              <a:t>边界 / 缺口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12471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200">
                <a:solidFill>
                  <a:srgbClr val="6E7888"/>
                </a:solidFill>
                <a:latin typeface="Cascadia Mono"/>
                <a:ea typeface="Cascadia Mono"/>
              </a:rPr>
              <a:t>BOUNDARIES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555E6C"/>
                </a:solidFill>
                <a:latin typeface="Cascadia Mono"/>
                <a:ea typeface="Cascadia Mono"/>
              </a:rPr>
              <a:t>PRIVACYTRACE / REVIEW DECK /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6473952"/>
            <a:ext cx="6858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E6C"/>
                </a:solidFill>
                <a:latin typeface="Cascadia Mono"/>
                <a:ea typeface="Cascadia Mono"/>
              </a:rPr>
              <a:t>08 /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417320"/>
            <a:ext cx="58521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4F0E4"/>
                </a:solidFill>
                <a:latin typeface="Noto Serif SC"/>
                <a:ea typeface="Noto Serif SC"/>
              </a:rPr>
              <a:t>把边界放在</a:t>
            </a:r>
            <a:r>
              <a:rPr sz="2800" b="1">
                <a:solidFill>
                  <a:srgbClr val="E9B872"/>
                </a:solidFill>
                <a:latin typeface="Noto Serif SC"/>
                <a:ea typeface="Noto Serif SC"/>
              </a:rPr>
              <a:t>结果旁边。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1"/>
            <a:ext cx="356616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4C9A6"/>
                </a:solidFill>
                <a:latin typeface="Noto Sans SC"/>
                <a:ea typeface="Noto Sans SC"/>
              </a:rPr>
              <a:t>已做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6928" y="2432304"/>
            <a:ext cx="3566159" cy="0"/>
          </a:xfrm>
          <a:prstGeom prst="line">
            <a:avLst/>
          </a:prstGeom>
          <a:ln w="10160">
            <a:solidFill>
              <a:srgbClr val="84C9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66928" y="2679192"/>
            <a:ext cx="45720" cy="45720"/>
          </a:xfrm>
          <a:prstGeom prst="rect">
            <a:avLst/>
          </a:prstGeom>
          <a:solidFill>
            <a:srgbClr val="84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2606040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隔离扫描：非 root、network none、只读根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319272"/>
            <a:ext cx="45720" cy="45720"/>
          </a:xfrm>
          <a:prstGeom prst="rect">
            <a:avLst/>
          </a:prstGeom>
          <a:solidFill>
            <a:srgbClr val="84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246120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证据模型与一致性状态机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959352"/>
            <a:ext cx="45720" cy="45720"/>
          </a:xfrm>
          <a:prstGeom prst="rect">
            <a:avLst/>
          </a:prstGeom>
          <a:solidFill>
            <a:srgbClr val="84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886200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12 个受控场景 · 36 行三方案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599431"/>
            <a:ext cx="45720" cy="45720"/>
          </a:xfrm>
          <a:prstGeom prst="rect">
            <a:avLst/>
          </a:prstGeom>
          <a:solidFill>
            <a:srgbClr val="84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4526279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工程门禁 1578 passed / 179 skipped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5239512"/>
            <a:ext cx="45720" cy="45720"/>
          </a:xfrm>
          <a:prstGeom prst="rect">
            <a:avLst/>
          </a:prstGeom>
          <a:solidFill>
            <a:srgbClr val="84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5166360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部署验收 40 pass / 0 fail / 0 skip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9976" y="2084831"/>
            <a:ext cx="356616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8978"/>
                </a:solidFill>
                <a:latin typeface="Noto Sans SC"/>
                <a:ea typeface="Noto Sans SC"/>
              </a:rPr>
              <a:t>未完成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379976" y="2432304"/>
            <a:ext cx="3566160" cy="0"/>
          </a:xfrm>
          <a:prstGeom prst="line">
            <a:avLst/>
          </a:prstGeom>
          <a:ln w="10160">
            <a:solidFill>
              <a:srgbClr val="E589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4379976" y="2679192"/>
            <a:ext cx="45720" cy="45720"/>
          </a:xfrm>
          <a:prstGeom prst="rect">
            <a:avLst/>
          </a:prstGeom>
          <a:solidFill>
            <a:srgbClr val="E58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6280" y="2606040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H12 失败，复现 2 次，未修复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79976" y="3319272"/>
            <a:ext cx="45720" cy="45720"/>
          </a:xfrm>
          <a:prstGeom prst="rect">
            <a:avLst/>
          </a:prstGeom>
          <a:solidFill>
            <a:srgbClr val="E58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26280" y="3246120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前端仍在开发，界面为开发版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79976" y="3959352"/>
            <a:ext cx="45720" cy="45720"/>
          </a:xfrm>
          <a:prstGeom prst="rect">
            <a:avLst/>
          </a:prstGeom>
          <a:solidFill>
            <a:srgbClr val="E58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26280" y="3886200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真实 App 全局准确率 / 召回率未做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79976" y="4599431"/>
            <a:ext cx="45720" cy="45720"/>
          </a:xfrm>
          <a:prstGeom prst="rect">
            <a:avLst/>
          </a:prstGeom>
          <a:solidFill>
            <a:srgbClr val="E58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26280" y="4526279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最终上传与系统反馈未发生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79976" y="5239512"/>
            <a:ext cx="45720" cy="45720"/>
          </a:xfrm>
          <a:prstGeom prst="rect">
            <a:avLst/>
          </a:prstGeom>
          <a:solidFill>
            <a:srgbClr val="E58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26280" y="5166360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真实 App 只有 1 个历史样本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3023" y="2084831"/>
            <a:ext cx="356616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9B872"/>
                </a:solidFill>
                <a:latin typeface="Noto Sans SC"/>
                <a:ea typeface="Noto Sans SC"/>
              </a:rPr>
              <a:t>不宣称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193023" y="2432304"/>
            <a:ext cx="3566161" cy="0"/>
          </a:xfrm>
          <a:prstGeom prst="line">
            <a:avLst/>
          </a:prstGeom>
          <a:ln w="10160">
            <a:solidFill>
              <a:srgbClr val="E9B8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8193023" y="2679192"/>
            <a:ext cx="45720" cy="4572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39327" y="2606040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不宣称 100% 独立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93023" y="3319272"/>
            <a:ext cx="45720" cy="4572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39327" y="3246120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不给 AI 代码比例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93023" y="3959352"/>
            <a:ext cx="45720" cy="4572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39327" y="3886200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不宣称开源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93023" y="4599431"/>
            <a:ext cx="45720" cy="4572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39327" y="4526279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不宣称真实 App 准确率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93023" y="5239512"/>
            <a:ext cx="45720" cy="45720"/>
          </a:xfrm>
          <a:prstGeom prst="rect">
            <a:avLst/>
          </a:prstGeom>
          <a:solidFill>
            <a:srgbClr val="E9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39327" y="5166360"/>
            <a:ext cx="3383280" cy="5120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3B4"/>
                </a:solidFill>
                <a:latin typeface="Noto Sans SC"/>
                <a:ea typeface="Noto Sans SC"/>
              </a:rPr>
              <a:t>不把线索当行为、不把受控当真实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59893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4F0E4"/>
                </a:solidFill>
                <a:latin typeface="Noto Serif SC"/>
                <a:ea typeface="Noto Serif SC"/>
              </a:rPr>
              <a:t>评审要素已覆盖；失败项与缺口同页保留。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6327648"/>
            <a:ext cx="105156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E7888"/>
                </a:solidFill>
                <a:latin typeface="Noto Sans SC"/>
                <a:ea typeface="Noto Sans SC"/>
              </a:rPr>
              <a:t>本片与 PPT 都不是赛事上传成功的证明；上传槽仍待人工执行。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04769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5390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308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6928" y="822960"/>
            <a:ext cx="11045952" cy="0"/>
          </a:xfrm>
          <a:prstGeom prst="line">
            <a:avLst/>
          </a:prstGeom>
          <a:ln w="6350">
            <a:solidFill>
              <a:srgbClr val="1A2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66928" y="310896"/>
            <a:ext cx="292608" cy="292608"/>
          </a:xfrm>
          <a:prstGeom prst="rect">
            <a:avLst/>
          </a:prstGeom>
          <a:solidFill>
            <a:srgbClr val="07090C"/>
          </a:solidFill>
          <a:ln w="7620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65760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4F0E4"/>
                </a:solidFill>
                <a:latin typeface="Cascadia Mono"/>
                <a:ea typeface="Cascadia Mono"/>
              </a:rPr>
              <a:t>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20040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0E4"/>
                </a:solidFill>
                <a:latin typeface="Noto Sans SC"/>
                <a:ea typeface="Noto Sans SC"/>
              </a:rPr>
              <a:t>PrivacyTrace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521207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40">
                <a:solidFill>
                  <a:srgbClr val="98A2B3"/>
                </a:solidFill>
                <a:latin typeface="Cascadia Mono"/>
                <a:ea typeface="Cascadia Mono"/>
              </a:rPr>
              <a:t>作品评审 / EXPERT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941832"/>
            <a:ext cx="493776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140">
                <a:solidFill>
                  <a:srgbClr val="E9B872"/>
                </a:solidFill>
                <a:latin typeface="Cascadia Mono"/>
                <a:ea typeface="Cascadia Mono"/>
              </a:rPr>
              <a:t>结语 / CLOSE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12471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200">
                <a:solidFill>
                  <a:srgbClr val="6E7888"/>
                </a:solidFill>
                <a:latin typeface="Cascadia Mono"/>
                <a:ea typeface="Cascadia Mono"/>
              </a:rPr>
              <a:t>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555E6C"/>
                </a:solidFill>
                <a:latin typeface="Cascadia Mono"/>
                <a:ea typeface="Cascadia Mono"/>
              </a:rPr>
              <a:t>PRIVACYTRACE / REVIEW DECK /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6473952"/>
            <a:ext cx="6858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E6C"/>
                </a:solidFill>
                <a:latin typeface="Cascadia Mono"/>
                <a:ea typeface="Cascadia Mono"/>
              </a:rPr>
              <a:t>09 /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03120"/>
            <a:ext cx="10058400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4F0E4"/>
                </a:solidFill>
                <a:latin typeface="Noto Serif SC"/>
                <a:ea typeface="Noto Serif SC"/>
              </a:rPr>
              <a:t>先把证据摆出来，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4F0E4"/>
                </a:solidFill>
                <a:latin typeface="Noto Serif SC"/>
                <a:ea typeface="Noto Serif SC"/>
              </a:rPr>
              <a:t>再谈结论。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13632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9C3B4"/>
                </a:solidFill>
                <a:latin typeface="Noto Sans SC"/>
                <a:ea typeface="Noto Sans SC"/>
              </a:rPr>
              <a:t>线索不等于行为。    受控结果不是真实 App 的准确率。    未知就写未知。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89120" y="4434840"/>
            <a:ext cx="3383280" cy="0"/>
          </a:xfrm>
          <a:prstGeom prst="line">
            <a:avLst/>
          </a:prstGeom>
          <a:ln w="10160">
            <a:solidFill>
              <a:srgbClr val="8B6A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800600" y="466344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4F0E4"/>
                </a:solidFill>
                <a:latin typeface="Noto Serif SC"/>
                <a:ea typeface="Noto Serif SC"/>
              </a:rPr>
              <a:t>PrivacyTrace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5074920"/>
            <a:ext cx="402336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E9B872"/>
                </a:solidFill>
                <a:latin typeface="Cascadia Mono"/>
                <a:ea typeface="Cascadia Mono"/>
              </a:rPr>
              <a:t>2026 作品评审 · 120s film / review deck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806440"/>
            <a:ext cx="1033272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E7888"/>
                </a:solidFill>
                <a:latin typeface="Cascadia Mono"/>
                <a:ea typeface="Cascadia Mono"/>
              </a:rPr>
              <a:t>复核入口：bash scripts/check.sh  ·  node scripts/verify-review-deck.cjs  ·  delivery/manifest.json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04769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5390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3085" y="841248"/>
            <a:ext cx="0" cy="5742432"/>
          </a:xfrm>
          <a:prstGeom prst="line">
            <a:avLst/>
          </a:prstGeom>
          <a:ln w="6350">
            <a:solidFill>
              <a:srgbClr val="12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6928" y="822960"/>
            <a:ext cx="11045952" cy="0"/>
          </a:xfrm>
          <a:prstGeom prst="line">
            <a:avLst/>
          </a:prstGeom>
          <a:ln w="6350">
            <a:solidFill>
              <a:srgbClr val="1A2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66928" y="310896"/>
            <a:ext cx="292608" cy="292608"/>
          </a:xfrm>
          <a:prstGeom prst="rect">
            <a:avLst/>
          </a:prstGeom>
          <a:solidFill>
            <a:srgbClr val="07090C"/>
          </a:solidFill>
          <a:ln w="7620">
            <a:solidFill>
              <a:srgbClr val="8A93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65760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4F0E4"/>
                </a:solidFill>
                <a:latin typeface="Cascadia Mono"/>
                <a:ea typeface="Cascadia Mono"/>
              </a:rPr>
              <a:t>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20040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0E4"/>
                </a:solidFill>
                <a:latin typeface="Noto Sans SC"/>
                <a:ea typeface="Noto Sans SC"/>
              </a:rPr>
              <a:t>PrivacyTrace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521207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140">
                <a:solidFill>
                  <a:srgbClr val="98A2B3"/>
                </a:solidFill>
                <a:latin typeface="Cascadia Mono"/>
                <a:ea typeface="Cascadia Mono"/>
              </a:rPr>
              <a:t>作品评审 / EXPERT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941832"/>
            <a:ext cx="493776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140">
                <a:solidFill>
                  <a:srgbClr val="E9B872"/>
                </a:solidFill>
                <a:latin typeface="Cascadia Mono"/>
                <a:ea typeface="Cascadia Mono"/>
              </a:rPr>
              <a:t>材料 / 复核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12471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spc="200">
                <a:solidFill>
                  <a:srgbClr val="6E7888"/>
                </a:solidFill>
                <a:latin typeface="Cascadia Mono"/>
                <a:ea typeface="Cascadia Mono"/>
              </a:rPr>
              <a:t>APPENDIX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493776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spc="120">
                <a:solidFill>
                  <a:srgbClr val="555E6C"/>
                </a:solidFill>
                <a:latin typeface="Cascadia Mono"/>
                <a:ea typeface="Cascadia Mono"/>
              </a:rPr>
              <a:t>PRIVACYTRACE / REVIEW DECK /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7080" y="6473952"/>
            <a:ext cx="68580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55E6C"/>
                </a:solidFill>
                <a:latin typeface="Cascadia Mono"/>
                <a:ea typeface="Cascadia Mono"/>
              </a:rPr>
              <a:t>10 /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417320"/>
            <a:ext cx="58521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4F0E4"/>
                </a:solidFill>
                <a:latin typeface="Noto Serif SC"/>
                <a:ea typeface="Noto Serif SC"/>
              </a:rPr>
              <a:t>材料与复核</a:t>
            </a:r>
            <a:r>
              <a:rPr sz="2800" b="1">
                <a:solidFill>
                  <a:srgbClr val="E9B872"/>
                </a:solidFill>
                <a:latin typeface="Noto Serif SC"/>
                <a:ea typeface="Noto Serif SC"/>
              </a:rPr>
              <a:t>，都在这里。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066543"/>
            <a:ext cx="12344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80">
                <a:solidFill>
                  <a:srgbClr val="E9B872"/>
                </a:solidFill>
                <a:latin typeface="Cascadia Mono"/>
                <a:ea typeface="Cascadia Mono"/>
              </a:rPr>
              <a:t>视频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2066543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9C3B4"/>
                </a:solidFill>
                <a:latin typeface="Noto Sans SC"/>
                <a:ea typeface="Noto Sans SC"/>
              </a:rPr>
              <a:t>PrivacyTrace-Review-1080p.mp4 · 120.000s · 1920×1080 · 30fps · H.264/AAC · 16,559,914 B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6928" y="2450591"/>
            <a:ext cx="10908792" cy="0"/>
          </a:xfrm>
          <a:prstGeom prst="line">
            <a:avLst/>
          </a:prstGeom>
          <a:ln w="6350">
            <a:solidFill>
              <a:srgbClr val="2228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6928" y="2551176"/>
            <a:ext cx="12344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80">
                <a:solidFill>
                  <a:srgbClr val="E9B872"/>
                </a:solidFill>
                <a:latin typeface="Cascadia Mono"/>
                <a:ea typeface="Cascadia Mono"/>
              </a:rPr>
              <a:t>PPT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47088" y="2551176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9C3B4"/>
                </a:solidFill>
                <a:latin typeface="Noto Sans SC"/>
                <a:ea typeface="Noto Sans SC"/>
              </a:rPr>
              <a:t>PrivacyTrace-Review.pptx · 10 页 · v0.2 · 与影片同一组事实与边界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2935224"/>
            <a:ext cx="10908792" cy="0"/>
          </a:xfrm>
          <a:prstGeom prst="line">
            <a:avLst/>
          </a:prstGeom>
          <a:ln w="6350">
            <a:solidFill>
              <a:srgbClr val="2228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3035808"/>
            <a:ext cx="12344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80">
                <a:solidFill>
                  <a:srgbClr val="E9B872"/>
                </a:solidFill>
                <a:latin typeface="Cascadia Mono"/>
                <a:ea typeface="Cascadia Mono"/>
              </a:rPr>
              <a:t>界面采集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47088" y="3035808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9C3B4"/>
                </a:solidFill>
                <a:latin typeface="Noto Sans SC"/>
                <a:ea typeface="Noto Sans SC"/>
              </a:rPr>
              <a:t>移动 App · 2026-10-23 · 390×844 DPR 3 @ f81ca20 · capture/manifest.json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3419856"/>
            <a:ext cx="10908792" cy="0"/>
          </a:xfrm>
          <a:prstGeom prst="line">
            <a:avLst/>
          </a:prstGeom>
          <a:ln w="6350">
            <a:solidFill>
              <a:srgbClr val="2228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3520439"/>
            <a:ext cx="12344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80">
                <a:solidFill>
                  <a:srgbClr val="E9B872"/>
                </a:solidFill>
                <a:latin typeface="Cascadia Mono"/>
                <a:ea typeface="Cascadia Mono"/>
              </a:rPr>
              <a:t>源文件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47088" y="3520439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9C3B4"/>
                </a:solidFill>
                <a:latin typeface="Noto Sans SC"/>
                <a:ea typeface="Noto Sans SC"/>
              </a:rPr>
              <a:t>film-review.html（window.__seek 确定性时间线）· assets/ · BEATS.md · manifest.json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6928" y="3904487"/>
            <a:ext cx="10908792" cy="0"/>
          </a:xfrm>
          <a:prstGeom prst="line">
            <a:avLst/>
          </a:prstGeom>
          <a:ln w="6350">
            <a:solidFill>
              <a:srgbClr val="2228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6928" y="4005072"/>
            <a:ext cx="12344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80">
                <a:solidFill>
                  <a:srgbClr val="E9B872"/>
                </a:solidFill>
                <a:latin typeface="Cascadia Mono"/>
                <a:ea typeface="Cascadia Mono"/>
              </a:rPr>
              <a:t>视频 SHA-256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47088" y="4005072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9C3B4"/>
                </a:solidFill>
                <a:latin typeface="Noto Sans SC"/>
                <a:ea typeface="Noto Sans SC"/>
              </a:rPr>
              <a:t>51d512afb8aface80cb9b2050bd06402611520c449995e605f1b6b0cee602cc5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66928" y="4389120"/>
            <a:ext cx="10908792" cy="0"/>
          </a:xfrm>
          <a:prstGeom prst="line">
            <a:avLst/>
          </a:prstGeom>
          <a:ln w="6350">
            <a:solidFill>
              <a:srgbClr val="2228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66928" y="4489704"/>
            <a:ext cx="12344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80">
                <a:solidFill>
                  <a:srgbClr val="E9B872"/>
                </a:solidFill>
                <a:latin typeface="Cascadia Mono"/>
                <a:ea typeface="Cascadia Mono"/>
              </a:rPr>
              <a:t>数字绑定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47088" y="4489704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9C3B4"/>
                </a:solidFill>
                <a:latin typeface="Noto Sans SC"/>
                <a:ea typeface="Noto Sans SC"/>
              </a:rPr>
              <a:t>65b49f7 工程门禁 · 323780c9 六场景 · b0b3c74 十二场景 · 9e56771 离线包 · 2626152 H 矩阵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66928" y="4873752"/>
            <a:ext cx="10908792" cy="0"/>
          </a:xfrm>
          <a:prstGeom prst="line">
            <a:avLst/>
          </a:prstGeom>
          <a:ln w="6350">
            <a:solidFill>
              <a:srgbClr val="2228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66928" y="4974336"/>
            <a:ext cx="12344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80">
                <a:solidFill>
                  <a:srgbClr val="E9B872"/>
                </a:solidFill>
                <a:latin typeface="Cascadia Mono"/>
                <a:ea typeface="Cascadia Mono"/>
              </a:rPr>
              <a:t>复核命令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47088" y="4974336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9C3B4"/>
                </a:solidFill>
                <a:latin typeface="Noto Sans SC"/>
                <a:ea typeface="Noto Sans SC"/>
              </a:rPr>
              <a:t>bash scripts/check.sh  ·  node scripts/verify-review-deck.cjs  ·  对照 manifest.json 校验哈希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66928" y="5358383"/>
            <a:ext cx="10908792" cy="0"/>
          </a:xfrm>
          <a:prstGeom prst="line">
            <a:avLst/>
          </a:prstGeom>
          <a:ln w="6350">
            <a:solidFill>
              <a:srgbClr val="2228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66928" y="5458968"/>
            <a:ext cx="12344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80">
                <a:solidFill>
                  <a:srgbClr val="E9B872"/>
                </a:solidFill>
                <a:latin typeface="Cascadia Mono"/>
                <a:ea typeface="Cascadia Mono"/>
              </a:rPr>
              <a:t>提交状态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47088" y="5458968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9C3B4"/>
                </a:solidFill>
                <a:latin typeface="Noto Sans SC"/>
                <a:ea typeface="Noto Sans SC"/>
              </a:rPr>
              <a:t>以报名系统实际提交状态与回执为准；本页只固定材料版本与哈希。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66928" y="5843016"/>
            <a:ext cx="10908792" cy="0"/>
          </a:xfrm>
          <a:prstGeom prst="line">
            <a:avLst/>
          </a:prstGeom>
          <a:ln w="6350">
            <a:solidFill>
              <a:srgbClr val="2228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66928" y="5989320"/>
            <a:ext cx="105156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4F0E4"/>
                </a:solidFill>
                <a:latin typeface="Noto Sans SC"/>
                <a:ea typeface="Noto Sans SC"/>
              </a:rPr>
              <a:t>评审要素覆盖：定位 / 创新 / 关键实现 / 真实成果 / 学生原创贡献。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272784"/>
            <a:ext cx="105156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A4B2"/>
                </a:solidFill>
                <a:latin typeface="Noto Sans SC"/>
                <a:ea typeface="Noto Sans SC"/>
              </a:rPr>
              <a:t>缺口：H12 失败、前端开发版、真实 App 全局准确率未做。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PrivacyTrace</Application>
  <PresentationFormat>On-screen Show (16:9)</PresentationFormat>
  <Paragraphs>0</Paragraphs>
  <Slides>10</Slides>
  <Notes>10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PrivacyTrace · 作品评审 PPT</dc:title>
  <dc:subject/>
  <dc:creator>PrivacyTrace</dc:creator>
  <cp:keywords/>
  <dc:description/>
  <cp:lastModifiedBy>PrivacyTrace</cp:lastModifiedBy>
  <cp:revision>2</cp:revision>
  <dcterms:created xsi:type="dcterms:W3CDTF">2026-10-23T00:00:00Z</dcterms:created>
  <dcterms:modified xsi:type="dcterms:W3CDTF">2026-10-23T00:00:00Z</dcterms:modified>
  <cp:category/>
</cp:coreProperties>
</file>